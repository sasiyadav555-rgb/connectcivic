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7750" y="348932"/>
            <a:ext cx="1903095" cy="448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9625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225"/>
            <a:ext cx="12191999" cy="8667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144" y="234632"/>
            <a:ext cx="5993130" cy="5701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569" y="1074356"/>
            <a:ext cx="9396095" cy="4655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sidhu07/CivicConnect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v.in/" TargetMode="External"/><Relationship Id="rId2" Type="http://schemas.openxmlformats.org/officeDocument/2006/relationships/hyperlink" Target="https://www.open311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pen311.org/" TargetMode="External"/><Relationship Id="rId3" Type="http://schemas.openxmlformats.org/officeDocument/2006/relationships/hyperlink" Target="https://www.data.gov/" TargetMode="External"/><Relationship Id="rId7" Type="http://schemas.openxmlformats.org/officeDocument/2006/relationships/hyperlink" Target="https://ieeexplore.ieee.org/" TargetMode="External"/><Relationship Id="rId2" Type="http://schemas.openxmlformats.org/officeDocument/2006/relationships/hyperlink" Target="https://www.ushahid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s.google.com/maps" TargetMode="External"/><Relationship Id="rId5" Type="http://schemas.openxmlformats.org/officeDocument/2006/relationships/hyperlink" Target="https://www.oecd.org/" TargetMode="External"/><Relationship Id="rId4" Type="http://schemas.openxmlformats.org/officeDocument/2006/relationships/hyperlink" Target="https://unhabitat.org/" TargetMode="External"/><Relationship Id="rId9" Type="http://schemas.openxmlformats.org/officeDocument/2006/relationships/hyperlink" Target="https://www.mygov.in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137348"/>
            <a:ext cx="11673840" cy="46050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5250180" marR="1365250" indent="-3813810">
              <a:lnSpc>
                <a:spcPct val="101699"/>
              </a:lnSpc>
              <a:spcBef>
                <a:spcPts val="50"/>
              </a:spcBef>
            </a:pPr>
            <a:r>
              <a:rPr sz="2400" b="1" dirty="0">
                <a:solidFill>
                  <a:srgbClr val="17365D"/>
                </a:solidFill>
                <a:latin typeface="Verdana"/>
                <a:cs typeface="Verdana"/>
              </a:rPr>
              <a:t>Crowdsourced</a:t>
            </a:r>
            <a:r>
              <a:rPr sz="2400" b="1" spc="-175" dirty="0">
                <a:solidFill>
                  <a:srgbClr val="17365D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7365D"/>
                </a:solidFill>
                <a:latin typeface="Verdana"/>
                <a:cs typeface="Verdana"/>
              </a:rPr>
              <a:t>Civic</a:t>
            </a:r>
            <a:r>
              <a:rPr sz="2400" b="1" spc="-85" dirty="0">
                <a:solidFill>
                  <a:srgbClr val="17365D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7365D"/>
                </a:solidFill>
                <a:latin typeface="Verdana"/>
                <a:cs typeface="Verdana"/>
              </a:rPr>
              <a:t>Issue</a:t>
            </a:r>
            <a:r>
              <a:rPr sz="2400" b="1" spc="-90" dirty="0">
                <a:solidFill>
                  <a:srgbClr val="17365D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7365D"/>
                </a:solidFill>
                <a:latin typeface="Verdana"/>
                <a:cs typeface="Verdana"/>
              </a:rPr>
              <a:t>Reporting</a:t>
            </a:r>
            <a:r>
              <a:rPr sz="2400" b="1" spc="-85" dirty="0">
                <a:solidFill>
                  <a:srgbClr val="17365D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17365D"/>
                </a:solidFill>
                <a:latin typeface="Verdana"/>
                <a:cs typeface="Verdana"/>
              </a:rPr>
              <a:t>And</a:t>
            </a:r>
            <a:r>
              <a:rPr sz="2400" b="1" spc="-90" dirty="0">
                <a:solidFill>
                  <a:srgbClr val="17365D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17365D"/>
                </a:solidFill>
                <a:latin typeface="Verdana"/>
                <a:cs typeface="Verdana"/>
              </a:rPr>
              <a:t>Resolution System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800" b="1" spc="-20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9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r>
              <a:rPr sz="1800" b="1" spc="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: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 CSE_139</a:t>
            </a:r>
            <a:endParaRPr sz="1800">
              <a:latin typeface="Cambria"/>
              <a:cs typeface="Cambria"/>
            </a:endParaRPr>
          </a:p>
          <a:p>
            <a:pPr marR="1104900" algn="r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15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Cambria"/>
              <a:cs typeface="Cambria"/>
            </a:endParaRPr>
          </a:p>
          <a:p>
            <a:pPr marR="1647825" algn="r">
              <a:lnSpc>
                <a:spcPct val="10000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Ms.</a:t>
            </a:r>
            <a:r>
              <a:rPr sz="1700" b="1" spc="-10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Saiqa Khan</a:t>
            </a:r>
            <a:r>
              <a:rPr sz="1800" b="1" spc="-9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001F5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  <a:p>
            <a:pPr marL="6512559">
              <a:lnSpc>
                <a:spcPct val="100000"/>
              </a:lnSpc>
              <a:spcBef>
                <a:spcPts val="45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sz="1700" b="1" spc="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/</a:t>
            </a:r>
            <a:r>
              <a:rPr sz="1700" b="1" spc="-8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Associate</a:t>
            </a:r>
            <a:r>
              <a:rPr sz="1700" b="1" spc="-1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25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sz="1700" b="1" spc="-10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/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2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marL="6512559">
              <a:lnSpc>
                <a:spcPct val="100000"/>
              </a:lnSpc>
              <a:spcBef>
                <a:spcPts val="135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16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Computer</a:t>
            </a:r>
            <a:r>
              <a:rPr sz="1700" b="1" spc="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sz="17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and</a:t>
            </a:r>
            <a:r>
              <a:rPr sz="17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Engineering</a:t>
            </a:r>
            <a:endParaRPr sz="1700">
              <a:latin typeface="Cambria"/>
              <a:cs typeface="Cambria"/>
            </a:endParaRPr>
          </a:p>
          <a:p>
            <a:pPr marL="6512559">
              <a:lnSpc>
                <a:spcPct val="100000"/>
              </a:lnSpc>
              <a:spcBef>
                <a:spcPts val="215"/>
              </a:spcBef>
            </a:pPr>
            <a:r>
              <a:rPr sz="1700" b="1" spc="-20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  <a:p>
            <a:pPr marL="12700" marR="4821555">
              <a:lnSpc>
                <a:spcPct val="104299"/>
              </a:lnSpc>
              <a:spcBef>
                <a:spcPts val="1520"/>
              </a:spcBef>
            </a:pP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Name</a:t>
            </a:r>
            <a:r>
              <a:rPr sz="1800" b="1" spc="-11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of</a:t>
            </a:r>
            <a:r>
              <a:rPr sz="1800" b="1" spc="-7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the</a:t>
            </a:r>
            <a:r>
              <a:rPr sz="1800" b="1" spc="3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spc="-40" dirty="0">
                <a:solidFill>
                  <a:srgbClr val="F79246"/>
                </a:solidFill>
                <a:latin typeface="Cambria"/>
                <a:cs typeface="Cambria"/>
              </a:rPr>
              <a:t>B.Tech(Computer</a:t>
            </a:r>
            <a:r>
              <a:rPr sz="1800" b="1" spc="-55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79246"/>
                </a:solidFill>
                <a:latin typeface="Cambria"/>
                <a:cs typeface="Cambria"/>
              </a:rPr>
              <a:t>Science</a:t>
            </a:r>
            <a:r>
              <a:rPr sz="1800" b="1" spc="-90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79246"/>
                </a:solidFill>
                <a:latin typeface="Cambria"/>
                <a:cs typeface="Cambria"/>
              </a:rPr>
              <a:t>And</a:t>
            </a:r>
            <a:r>
              <a:rPr sz="1800" b="1" spc="80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79246"/>
                </a:solidFill>
                <a:latin typeface="Cambria"/>
                <a:cs typeface="Cambria"/>
              </a:rPr>
              <a:t>Engineering)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Name</a:t>
            </a:r>
            <a:r>
              <a:rPr sz="1800" b="1" spc="-14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of</a:t>
            </a:r>
            <a:r>
              <a:rPr sz="1800" b="1" spc="-10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the</a:t>
            </a:r>
            <a:r>
              <a:rPr sz="1800" b="1" spc="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HoD:</a:t>
            </a:r>
            <a:r>
              <a:rPr sz="1800" b="1" spc="-2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79246"/>
                </a:solidFill>
                <a:latin typeface="Cambria"/>
                <a:cs typeface="Cambria"/>
              </a:rPr>
              <a:t>Dr.</a:t>
            </a:r>
            <a:r>
              <a:rPr sz="1800" b="1" spc="-45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spc="-35" dirty="0">
                <a:solidFill>
                  <a:srgbClr val="F79246"/>
                </a:solidFill>
                <a:latin typeface="Cambria"/>
                <a:cs typeface="Cambria"/>
              </a:rPr>
              <a:t>Blessed</a:t>
            </a:r>
            <a:r>
              <a:rPr sz="1800" b="1" spc="-75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79246"/>
                </a:solidFill>
                <a:latin typeface="Cambria"/>
                <a:cs typeface="Cambria"/>
              </a:rPr>
              <a:t>Prince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Name</a:t>
            </a:r>
            <a:r>
              <a:rPr sz="1800" b="1" spc="-14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of</a:t>
            </a:r>
            <a:r>
              <a:rPr sz="1800" b="1" spc="-10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the</a:t>
            </a:r>
            <a:r>
              <a:rPr sz="1800" b="1" spc="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9"/>
                </a:solidFill>
                <a:latin typeface="Cambria"/>
                <a:cs typeface="Cambria"/>
              </a:rPr>
              <a:t>Program</a:t>
            </a:r>
            <a:r>
              <a:rPr sz="1800" b="1" spc="-7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9"/>
                </a:solidFill>
                <a:latin typeface="Cambria"/>
                <a:cs typeface="Cambria"/>
              </a:rPr>
              <a:t>Project</a:t>
            </a:r>
            <a:r>
              <a:rPr sz="1800" b="1" spc="-4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spc="-30" dirty="0">
                <a:solidFill>
                  <a:srgbClr val="4F81B9"/>
                </a:solidFill>
                <a:latin typeface="Cambria"/>
                <a:cs typeface="Cambria"/>
              </a:rPr>
              <a:t>Coordinator:</a:t>
            </a:r>
            <a:r>
              <a:rPr sz="1800" b="1" spc="-2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79246"/>
                </a:solidFill>
                <a:latin typeface="Cambria"/>
                <a:cs typeface="Cambria"/>
              </a:rPr>
              <a:t>Dr.</a:t>
            </a:r>
            <a:r>
              <a:rPr sz="1800" b="1" spc="-65" dirty="0">
                <a:solidFill>
                  <a:srgbClr val="F79246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79246"/>
                </a:solidFill>
                <a:latin typeface="Cambria"/>
                <a:cs typeface="Cambria"/>
              </a:rPr>
              <a:t>Muthuraj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Nameof</a:t>
            </a:r>
            <a:r>
              <a:rPr sz="1800" b="1" spc="-12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School</a:t>
            </a:r>
            <a:r>
              <a:rPr sz="1800" b="1" spc="3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4F81B9"/>
                </a:solidFill>
                <a:latin typeface="Cambria"/>
                <a:cs typeface="Cambria"/>
              </a:rPr>
              <a:t>Project</a:t>
            </a:r>
            <a:r>
              <a:rPr sz="1800" b="1" spc="-60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9"/>
                </a:solidFill>
                <a:latin typeface="Cambria"/>
                <a:cs typeface="Cambria"/>
              </a:rPr>
              <a:t>Coordinators:</a:t>
            </a:r>
            <a:r>
              <a:rPr sz="1800" b="1" spc="5" dirty="0">
                <a:solidFill>
                  <a:srgbClr val="4F81B9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8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1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2572257"/>
          <a:ext cx="6423660" cy="1931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b="1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Roll</a:t>
                      </a:r>
                      <a:r>
                        <a:rPr sz="1800" b="1" spc="85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spc="-1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1160"/>
                        </a:spcBef>
                        <a:tabLst>
                          <a:tab pos="1256665" algn="l"/>
                        </a:tabLst>
                      </a:pPr>
                      <a:r>
                        <a:rPr sz="1800" b="1" spc="5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Student</a:t>
                      </a:r>
                      <a:r>
                        <a:rPr sz="1800" b="1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20221CSE0281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50" dirty="0">
                          <a:latin typeface="Georgia"/>
                          <a:cs typeface="Georgia"/>
                        </a:rPr>
                        <a:t>M</a:t>
                      </a:r>
                      <a:r>
                        <a:rPr sz="1550" spc="1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550" spc="-10" dirty="0">
                          <a:latin typeface="Georgia"/>
                          <a:cs typeface="Georgia"/>
                        </a:rPr>
                        <a:t>Sidhardha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20221CSE0259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Sasi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Kumar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20221CSE0282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Sree</a:t>
                      </a:r>
                      <a:r>
                        <a:rPr sz="1400" spc="-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Vardhan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8775" y="28003"/>
            <a:ext cx="2811145" cy="65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7894" marR="5080" indent="-925830">
              <a:lnSpc>
                <a:spcPct val="114799"/>
              </a:lnSpc>
              <a:spcBef>
                <a:spcPts val="100"/>
              </a:spcBef>
            </a:pPr>
            <a:r>
              <a:rPr sz="1800" dirty="0"/>
              <a:t>CSE7101-</a:t>
            </a:r>
            <a:r>
              <a:rPr sz="1800" spc="-50" dirty="0"/>
              <a:t> </a:t>
            </a:r>
            <a:r>
              <a:rPr sz="1800" spc="-30" dirty="0"/>
              <a:t>Capstone</a:t>
            </a:r>
            <a:r>
              <a:rPr sz="1800" spc="-75" dirty="0"/>
              <a:t> </a:t>
            </a:r>
            <a:r>
              <a:rPr sz="1800" spc="-10" dirty="0"/>
              <a:t>Project </a:t>
            </a:r>
            <a:r>
              <a:rPr sz="1800" spc="-55" dirty="0"/>
              <a:t>Review-</a:t>
            </a:r>
            <a:r>
              <a:rPr sz="1800" spc="-50" dirty="0"/>
              <a:t>2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335" y="912431"/>
            <a:ext cx="3512820" cy="517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1550" b="1" spc="-10" dirty="0">
                <a:latin typeface="Calibri"/>
                <a:cs typeface="Calibri"/>
              </a:rPr>
              <a:t>Abstract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550" b="1" dirty="0">
                <a:latin typeface="Calibri"/>
                <a:cs typeface="Calibri"/>
              </a:rPr>
              <a:t>Literature</a:t>
            </a:r>
            <a:r>
              <a:rPr sz="1550" b="1" spc="180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Survey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1550" b="1" spc="-10" dirty="0">
                <a:latin typeface="Calibri"/>
                <a:cs typeface="Calibri"/>
              </a:rPr>
              <a:t>Objectives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550" b="1" dirty="0">
                <a:latin typeface="Calibri"/>
                <a:cs typeface="Calibri"/>
              </a:rPr>
              <a:t>Existing</a:t>
            </a:r>
            <a:r>
              <a:rPr sz="1550" b="1" spc="10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Methods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&amp;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Drawbacks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550" b="1" dirty="0">
                <a:latin typeface="Calibri"/>
                <a:cs typeface="Calibri"/>
              </a:rPr>
              <a:t>Proposed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Method</a:t>
            </a:r>
            <a:r>
              <a:rPr sz="1550" b="1" spc="1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&amp;</a:t>
            </a:r>
            <a:r>
              <a:rPr sz="1550" b="1" spc="15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Feasibility</a:t>
            </a:r>
            <a:r>
              <a:rPr sz="1550" b="1" spc="145" dirty="0">
                <a:latin typeface="Calibri"/>
                <a:cs typeface="Calibri"/>
              </a:rPr>
              <a:t> </a:t>
            </a:r>
            <a:r>
              <a:rPr sz="1550" b="1" spc="-20" dirty="0">
                <a:latin typeface="Calibri"/>
                <a:cs typeface="Calibri"/>
              </a:rPr>
              <a:t>Study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550" b="1" dirty="0">
                <a:latin typeface="Calibri"/>
                <a:cs typeface="Calibri"/>
              </a:rPr>
              <a:t>Architecture</a:t>
            </a:r>
            <a:r>
              <a:rPr sz="1550" b="1" spc="220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Diagram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550" b="1" spc="-10" dirty="0">
                <a:latin typeface="Calibri"/>
                <a:cs typeface="Calibri"/>
              </a:rPr>
              <a:t>Modules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154838"/>
              <a:buFont typeface="Arial MT"/>
              <a:buChar char="•"/>
              <a:tabLst>
                <a:tab pos="298450" algn="l"/>
              </a:tabLst>
            </a:pPr>
            <a:r>
              <a:rPr sz="1550" b="1" dirty="0">
                <a:latin typeface="Calibri"/>
                <a:cs typeface="Calibri"/>
              </a:rPr>
              <a:t>Hardware</a:t>
            </a:r>
            <a:r>
              <a:rPr sz="1550" b="1" spc="15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&amp;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Software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Details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154838"/>
              <a:buFont typeface="Arial MT"/>
              <a:buChar char="•"/>
              <a:tabLst>
                <a:tab pos="298450" algn="l"/>
              </a:tabLst>
            </a:pPr>
            <a:r>
              <a:rPr sz="1550" b="1" dirty="0">
                <a:latin typeface="Calibri"/>
                <a:cs typeface="Calibri"/>
              </a:rPr>
              <a:t>Timeline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Of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The</a:t>
            </a:r>
            <a:r>
              <a:rPr sz="1550" b="1" spc="120" dirty="0">
                <a:latin typeface="Calibri"/>
                <a:cs typeface="Calibri"/>
              </a:rPr>
              <a:t> </a:t>
            </a:r>
            <a:r>
              <a:rPr sz="1550" b="1" spc="-10" dirty="0">
                <a:latin typeface="Calibri"/>
                <a:cs typeface="Calibri"/>
              </a:rPr>
              <a:t>Project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154838"/>
              <a:buFont typeface="Arial MT"/>
              <a:buChar char="•"/>
              <a:tabLst>
                <a:tab pos="298450" algn="l"/>
              </a:tabLst>
            </a:pPr>
            <a:r>
              <a:rPr sz="1550" b="1" dirty="0">
                <a:latin typeface="Calibri"/>
                <a:cs typeface="Calibri"/>
              </a:rPr>
              <a:t>Github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spc="-20" dirty="0">
                <a:latin typeface="Calibri"/>
                <a:cs typeface="Calibri"/>
              </a:rPr>
              <a:t>Link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SzPct val="154838"/>
              <a:buFont typeface="Arial MT"/>
              <a:buChar char="•"/>
              <a:tabLst>
                <a:tab pos="298450" algn="l"/>
              </a:tabLst>
            </a:pPr>
            <a:r>
              <a:rPr sz="1550" b="1" spc="-10" dirty="0">
                <a:latin typeface="Calibri"/>
                <a:cs typeface="Calibri"/>
              </a:rPr>
              <a:t>References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Problem</a:t>
            </a:r>
            <a:r>
              <a:rPr sz="2400" spc="-125" dirty="0"/>
              <a:t> </a:t>
            </a:r>
            <a:r>
              <a:rPr sz="2400" dirty="0"/>
              <a:t>Statement</a:t>
            </a:r>
            <a:r>
              <a:rPr sz="2400" spc="-45" dirty="0"/>
              <a:t> </a:t>
            </a:r>
            <a:r>
              <a:rPr sz="2400" dirty="0"/>
              <a:t>Number:</a:t>
            </a:r>
            <a:r>
              <a:rPr sz="2400" spc="-30" dirty="0"/>
              <a:t> </a:t>
            </a:r>
            <a:r>
              <a:rPr sz="2400" spc="-10" dirty="0"/>
              <a:t>SIH25031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72794" y="893635"/>
            <a:ext cx="10470515" cy="25920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550" b="1" spc="-25" dirty="0">
                <a:latin typeface="Calibri"/>
                <a:cs typeface="Calibri"/>
              </a:rPr>
              <a:t>Organization</a:t>
            </a:r>
            <a:r>
              <a:rPr sz="1550" b="1" spc="-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:Government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Jharkhand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550" b="1" dirty="0">
                <a:latin typeface="Calibri"/>
                <a:cs typeface="Calibri"/>
              </a:rPr>
              <a:t>Category</a:t>
            </a:r>
            <a:r>
              <a:rPr sz="1250" dirty="0">
                <a:latin typeface="Calibri"/>
                <a:cs typeface="Calibri"/>
              </a:rPr>
              <a:t>:</a:t>
            </a:r>
            <a:r>
              <a:rPr sz="1250" spc="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Software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3000"/>
              </a:lnSpc>
              <a:spcBef>
                <a:spcPts val="1090"/>
              </a:spcBef>
            </a:pPr>
            <a:r>
              <a:rPr sz="1550" b="1" dirty="0">
                <a:latin typeface="Calibri"/>
                <a:cs typeface="Calibri"/>
              </a:rPr>
              <a:t>Problem</a:t>
            </a:r>
            <a:r>
              <a:rPr sz="1550" b="1" spc="-7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Description</a:t>
            </a:r>
            <a:r>
              <a:rPr sz="1550" b="1" spc="9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:</a:t>
            </a:r>
            <a:r>
              <a:rPr sz="12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Rapid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urbanization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industrial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growth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led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serious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environmental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issues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air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water </a:t>
            </a:r>
            <a:r>
              <a:rPr sz="1550" dirty="0">
                <a:latin typeface="Calibri"/>
                <a:cs typeface="Calibri"/>
              </a:rPr>
              <a:t>pollution,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improper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waste</a:t>
            </a:r>
            <a:r>
              <a:rPr sz="1550" spc="2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management,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excessive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energy</a:t>
            </a:r>
            <a:r>
              <a:rPr sz="1550" spc="2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consumption.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Traditional</a:t>
            </a:r>
            <a:r>
              <a:rPr sz="1550" spc="2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technologies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depend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heavily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fossil </a:t>
            </a:r>
            <a:r>
              <a:rPr sz="1550" dirty="0">
                <a:latin typeface="Calibri"/>
                <a:cs typeface="Calibri"/>
              </a:rPr>
              <a:t>fuels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inefficient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processes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harm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natural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resources</a:t>
            </a:r>
            <a:r>
              <a:rPr sz="1550" spc="2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human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health.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lack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eco-</a:t>
            </a:r>
            <a:r>
              <a:rPr sz="1550" dirty="0">
                <a:latin typeface="Calibri"/>
                <a:cs typeface="Calibri"/>
              </a:rPr>
              <a:t>friendly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systems</a:t>
            </a:r>
            <a:r>
              <a:rPr sz="1550" spc="2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limited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use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renewable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energy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further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worsen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environmental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degradation.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There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strong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need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Clean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Green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Technology </a:t>
            </a:r>
            <a:r>
              <a:rPr sz="1550" dirty="0">
                <a:latin typeface="Calibri"/>
                <a:cs typeface="Calibri"/>
              </a:rPr>
              <a:t>solutions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sustainable,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cost-effective,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energy-efficient.</a:t>
            </a:r>
            <a:r>
              <a:rPr sz="1550" spc="2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Such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technologies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should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reduce</a:t>
            </a:r>
            <a:r>
              <a:rPr sz="1550" spc="2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pollution,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conserve </a:t>
            </a:r>
            <a:r>
              <a:rPr sz="1550" dirty="0">
                <a:latin typeface="Calibri"/>
                <a:cs typeface="Calibri"/>
              </a:rPr>
              <a:t>resources,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promote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</a:t>
            </a:r>
            <a:r>
              <a:rPr sz="1550" spc="1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renewable</a:t>
            </a:r>
            <a:r>
              <a:rPr sz="1550" spc="1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energy.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Implementing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clean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green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solutions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will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help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protect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environment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while</a:t>
            </a:r>
            <a:r>
              <a:rPr sz="1550" spc="2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supporting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long-term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economic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social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development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2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future</a:t>
            </a:r>
            <a:r>
              <a:rPr sz="1550" spc="1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generations.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Abstract: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744" y="1019111"/>
            <a:ext cx="1120775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158750">
              <a:lnSpc>
                <a:spcPts val="2865"/>
              </a:lnSpc>
              <a:spcBef>
                <a:spcPts val="100"/>
              </a:spcBef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Urban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civic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unresolved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inefficient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Lack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transparency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coordination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accountability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authorities.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spcBef>
                <a:spcPts val="50"/>
              </a:spcBef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reliable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platform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civic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Citizens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submit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descriptions.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70"/>
              </a:lnSpc>
              <a:spcBef>
                <a:spcPts val="50"/>
              </a:spcBef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Reported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automatically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categorized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concerned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departments.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55"/>
              </a:lnSpc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Authorities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complaints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buSzPct val="95833"/>
              <a:buChar char="•"/>
              <a:tabLst>
                <a:tab pos="1644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improves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transparency,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civic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efficiency.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dirty="0"/>
              <a:t>Literature</a:t>
            </a:r>
            <a:r>
              <a:rPr spc="-75" dirty="0"/>
              <a:t> </a:t>
            </a:r>
            <a:r>
              <a:rPr spc="-10" dirty="0"/>
              <a:t>Survey: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235" y="1122362"/>
            <a:ext cx="10569575" cy="1861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Arial MT"/>
                <a:cs typeface="Arial MT"/>
              </a:rPr>
              <a:t>Traditional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civic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complaint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slow,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manual,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lack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transparency.Research </a:t>
            </a:r>
            <a:r>
              <a:rPr sz="2000" dirty="0">
                <a:latin typeface="Arial MT"/>
                <a:cs typeface="Arial MT"/>
              </a:rPr>
              <a:t>shows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crowdsourced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digital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platforms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citizen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issue </a:t>
            </a:r>
            <a:r>
              <a:rPr sz="2000" dirty="0">
                <a:latin typeface="Arial MT"/>
                <a:cs typeface="Arial MT"/>
              </a:rPr>
              <a:t>reporting.Applications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FixMyStreet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SeeClickFix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location-based </a:t>
            </a:r>
            <a:r>
              <a:rPr sz="2000" dirty="0">
                <a:latin typeface="Arial MT"/>
                <a:cs typeface="Arial MT"/>
              </a:rPr>
              <a:t>reporting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civic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issues.Smart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studies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highlight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cloud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management.However,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validation,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engagement,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authority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integration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remain.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dirty="0"/>
              <a:t>Literature</a:t>
            </a:r>
            <a:r>
              <a:rPr spc="-75" dirty="0"/>
              <a:t> </a:t>
            </a:r>
            <a:r>
              <a:rPr spc="-10" dirty="0"/>
              <a:t>Survey: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869" y="1048956"/>
            <a:ext cx="8924290" cy="3701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Observations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From</a:t>
            </a:r>
            <a:r>
              <a:rPr sz="2000" b="1" spc="-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Literature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Include: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Traditional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civic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reporting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time-consuming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lack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transparency.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Crowdsourced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platforms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citizen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participation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real-time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issue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reporting.</a:t>
            </a:r>
            <a:endParaRPr sz="2000">
              <a:latin typeface="Arial MT"/>
              <a:cs typeface="Arial MT"/>
            </a:endParaRPr>
          </a:p>
          <a:p>
            <a:pPr marL="355600" marR="73787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geolocation,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accuracy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spc="-10" dirty="0">
                <a:latin typeface="Arial MT"/>
                <a:cs typeface="Arial MT"/>
              </a:rPr>
              <a:t>accountability.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(GIS,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cloud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systems)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-10" dirty="0">
                <a:latin typeface="Arial MT"/>
                <a:cs typeface="Arial MT"/>
              </a:rPr>
              <a:t> issue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management.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Challenges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remain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validation,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engagement,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integration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authorities.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dirty="0"/>
              <a:t>Literature</a:t>
            </a:r>
            <a:r>
              <a:rPr spc="-75" dirty="0"/>
              <a:t> </a:t>
            </a:r>
            <a:r>
              <a:rPr spc="-10" dirty="0"/>
              <a:t>Survey: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869" y="948626"/>
            <a:ext cx="9833610" cy="23704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latin typeface="Calibri"/>
                <a:cs typeface="Calibri"/>
              </a:rPr>
              <a:t>Research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Gap:</a:t>
            </a:r>
            <a:endParaRPr sz="2000">
              <a:latin typeface="Calibri"/>
              <a:cs typeface="Calibri"/>
            </a:endParaRPr>
          </a:p>
          <a:p>
            <a:pPr marL="168910" indent="-133350">
              <a:lnSpc>
                <a:spcPct val="100000"/>
              </a:lnSpc>
              <a:spcBef>
                <a:spcPts val="825"/>
              </a:spcBef>
              <a:buSzPct val="95000"/>
              <a:buChar char="•"/>
              <a:tabLst>
                <a:tab pos="168910" algn="l"/>
              </a:tabLst>
            </a:pPr>
            <a:r>
              <a:rPr sz="2000" dirty="0">
                <a:latin typeface="Calibri"/>
                <a:cs typeface="Calibri"/>
              </a:rPr>
              <a:t>Existing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civic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reporting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lack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seamless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government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workflows.</a:t>
            </a:r>
            <a:endParaRPr sz="2000">
              <a:latin typeface="Calibri"/>
              <a:cs typeface="Calibri"/>
            </a:endParaRPr>
          </a:p>
          <a:p>
            <a:pPr marL="168910" indent="-133350">
              <a:lnSpc>
                <a:spcPct val="100000"/>
              </a:lnSpc>
              <a:buSzPct val="95000"/>
              <a:buChar char="•"/>
              <a:tabLst>
                <a:tab pos="168910" algn="l"/>
              </a:tabLst>
            </a:pPr>
            <a:r>
              <a:rPr sz="2000" dirty="0">
                <a:latin typeface="Calibri"/>
                <a:cs typeface="Calibri"/>
              </a:rPr>
              <a:t>Limited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intelligent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mechanisms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 duplicate </a:t>
            </a:r>
            <a:r>
              <a:rPr sz="2000" spc="-10" dirty="0">
                <a:latin typeface="Calibri"/>
                <a:cs typeface="Calibri"/>
              </a:rPr>
              <a:t>reports.</a:t>
            </a:r>
            <a:endParaRPr sz="2000">
              <a:latin typeface="Calibri"/>
              <a:cs typeface="Calibri"/>
            </a:endParaRPr>
          </a:p>
          <a:p>
            <a:pPr marL="168910" indent="-133350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68910" algn="l"/>
              </a:tabLst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platforms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 </a:t>
            </a:r>
            <a:r>
              <a:rPr sz="2000" spc="-10" dirty="0">
                <a:latin typeface="Calibri"/>
                <a:cs typeface="Calibri"/>
              </a:rPr>
              <a:t>predictive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analytics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prioritization.</a:t>
            </a:r>
            <a:endParaRPr sz="2000">
              <a:latin typeface="Calibri"/>
              <a:cs typeface="Calibri"/>
            </a:endParaRPr>
          </a:p>
          <a:p>
            <a:pPr marL="168910" indent="-133350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68910" algn="l"/>
              </a:tabLst>
            </a:pPr>
            <a:r>
              <a:rPr sz="2000" dirty="0">
                <a:latin typeface="Calibri"/>
                <a:cs typeface="Calibri"/>
              </a:rPr>
              <a:t>User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engagement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long-term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participation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feedback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mechanisms.</a:t>
            </a:r>
            <a:endParaRPr sz="2000">
              <a:latin typeface="Calibri"/>
              <a:cs typeface="Calibri"/>
            </a:endParaRPr>
          </a:p>
          <a:p>
            <a:pPr marL="168910" indent="-133350">
              <a:lnSpc>
                <a:spcPct val="100000"/>
              </a:lnSpc>
              <a:buSzPct val="95000"/>
              <a:buChar char="•"/>
              <a:tabLst>
                <a:tab pos="168910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need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scalable,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user-</a:t>
            </a:r>
            <a:r>
              <a:rPr sz="2000" dirty="0">
                <a:latin typeface="Calibri"/>
                <a:cs typeface="Calibri"/>
              </a:rPr>
              <a:t>friendly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transparency</a:t>
            </a:r>
            <a:endParaRPr sz="200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accountability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dirty="0"/>
              <a:t>Objectives</a:t>
            </a:r>
            <a:r>
              <a:rPr spc="-13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225" y="904614"/>
            <a:ext cx="8239759" cy="34232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Main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Objective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Proposed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System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Are:</a:t>
            </a:r>
            <a:endParaRPr sz="24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520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user-</a:t>
            </a:r>
            <a:r>
              <a:rPr sz="2000" dirty="0">
                <a:latin typeface="Calibri"/>
                <a:cs typeface="Calibri"/>
              </a:rPr>
              <a:t>friendly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platform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citizens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report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civic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issues</a:t>
            </a:r>
            <a:r>
              <a:rPr sz="2000" spc="-1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easily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530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quick</a:t>
            </a:r>
            <a:r>
              <a:rPr sz="2000" spc="-1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identification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documentation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 </a:t>
            </a:r>
            <a:r>
              <a:rPr sz="2000" spc="-10" dirty="0">
                <a:latin typeface="Calibri"/>
                <a:cs typeface="Calibri"/>
              </a:rPr>
              <a:t>problems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605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improve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communication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between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citizens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municipal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authorities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455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ensure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transparency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status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reported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issues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380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prioritize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issues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urgency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impact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450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encourage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participation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civic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development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605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faster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efficient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resolution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civic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endParaRPr sz="2000">
              <a:latin typeface="Calibri"/>
              <a:cs typeface="Calibri"/>
            </a:endParaRPr>
          </a:p>
          <a:p>
            <a:pPr marL="170180" indent="-157480">
              <a:lnSpc>
                <a:spcPct val="100000"/>
              </a:lnSpc>
              <a:spcBef>
                <a:spcPts val="530"/>
              </a:spcBef>
              <a:buSzPct val="97500"/>
              <a:buChar char="•"/>
              <a:tabLst>
                <a:tab pos="170180" algn="l"/>
              </a:tabLst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improve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public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services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urban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living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Exisiting</a:t>
            </a:r>
            <a:r>
              <a:rPr spc="-65" dirty="0"/>
              <a:t> </a:t>
            </a:r>
            <a:r>
              <a:rPr dirty="0"/>
              <a:t>method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Drawbacks: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4244" y="1211516"/>
            <a:ext cx="9594215" cy="399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Arial"/>
                <a:cs typeface="Arial"/>
              </a:rPr>
              <a:t>Existing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Methods: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Complaints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submitted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phone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calls,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written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forms,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municipal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office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visits.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online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portals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manual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processing.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Limited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images,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geolocation,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tracking.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Drawbacks: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spc="-10" dirty="0">
                <a:latin typeface="Arial MT"/>
                <a:cs typeface="Arial MT"/>
              </a:rPr>
              <a:t>Time-</a:t>
            </a:r>
            <a:r>
              <a:rPr sz="2000" dirty="0">
                <a:latin typeface="Arial MT"/>
                <a:cs typeface="Arial MT"/>
              </a:rPr>
              <a:t>consuming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inconvenient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citizens.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Lack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transparency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complaint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status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resolution.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Delays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manual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verification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processing.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Poor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coordination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departments.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citizen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engagement 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accountability.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0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Proposed</a:t>
            </a:r>
            <a:r>
              <a:rPr spc="-50" dirty="0"/>
              <a:t> </a:t>
            </a:r>
            <a:r>
              <a:rPr spc="-10" dirty="0"/>
              <a:t>Method</a:t>
            </a:r>
            <a:r>
              <a:rPr spc="-13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Feasibility</a:t>
            </a:r>
            <a:r>
              <a:rPr spc="-85" dirty="0"/>
              <a:t> </a:t>
            </a:r>
            <a:r>
              <a:rPr spc="-10" dirty="0"/>
              <a:t>Study: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235" y="944816"/>
            <a:ext cx="10843260" cy="4912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Arial"/>
                <a:cs typeface="Arial"/>
              </a:rPr>
              <a:t>Proposed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Method: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crowdsourced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digital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platform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(web/mobile) for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reporting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civic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issues.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Citizens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submit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descriptions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Issues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automatically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categorized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relevant</a:t>
            </a:r>
            <a:r>
              <a:rPr sz="2000" spc="-10" dirty="0">
                <a:latin typeface="Arial MT"/>
                <a:cs typeface="Arial MT"/>
              </a:rPr>
              <a:t> departments.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Authorities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update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status,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tasks,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resolve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complaints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dashboard.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notifications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transparency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citizen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engagement.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Feasibility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Study: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"/>
              <a:cs typeface="Arial"/>
            </a:endParaRPr>
          </a:p>
          <a:p>
            <a:pPr marL="355600" marR="19240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Technical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Feasibility: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GPS,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cloud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databases,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frameworks.</a:t>
            </a:r>
            <a:endParaRPr sz="2000">
              <a:latin typeface="Arial MT"/>
              <a:cs typeface="Arial MT"/>
            </a:endParaRPr>
          </a:p>
          <a:p>
            <a:pPr marL="355600" marR="4699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Economic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Feasibility: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implementation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open-</a:t>
            </a:r>
            <a:r>
              <a:rPr sz="2000" dirty="0">
                <a:latin typeface="Arial MT"/>
                <a:cs typeface="Arial MT"/>
              </a:rPr>
              <a:t>source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tools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scalable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cloud infrastructure.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Operational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Feasibility: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citizens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authorities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minimal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training.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Social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Feasibility: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Encourages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public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trust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civic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administration.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dirty="0"/>
              <a:t>Architecture</a:t>
            </a:r>
            <a:r>
              <a:rPr spc="-110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B85B6-70E9-2B84-F351-E7BE4878F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990600"/>
            <a:ext cx="51054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Modules: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375" y="1015705"/>
            <a:ext cx="10520045" cy="41509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38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User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Registration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Authentication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270"/>
              </a:spcBef>
            </a:pPr>
            <a:r>
              <a:rPr sz="1550" dirty="0">
                <a:latin typeface="Arial MT"/>
                <a:cs typeface="Arial MT"/>
              </a:rPr>
              <a:t>Allows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citizens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authorities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register,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log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in,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securely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access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system.</a:t>
            </a:r>
            <a:endParaRPr sz="155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7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Issue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Reporting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756285" marR="893444" indent="82550">
              <a:lnSpc>
                <a:spcPct val="103600"/>
              </a:lnSpc>
              <a:spcBef>
                <a:spcPts val="200"/>
              </a:spcBef>
            </a:pPr>
            <a:r>
              <a:rPr sz="1550" dirty="0">
                <a:latin typeface="Arial MT"/>
                <a:cs typeface="Arial MT"/>
              </a:rPr>
              <a:t>Enables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users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report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civic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issues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by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uploading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images,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adding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descriptions,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capturing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GPS </a:t>
            </a:r>
            <a:r>
              <a:rPr sz="1550" spc="-10" dirty="0">
                <a:latin typeface="Arial MT"/>
                <a:cs typeface="Arial MT"/>
              </a:rPr>
              <a:t>location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ts val="2105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Issue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Categorization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Validation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270"/>
              </a:spcBef>
            </a:pPr>
            <a:r>
              <a:rPr sz="1550" dirty="0">
                <a:latin typeface="Arial MT"/>
                <a:cs typeface="Arial MT"/>
              </a:rPr>
              <a:t>Automatically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classifies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issues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checks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duplicate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or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false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reports.</a:t>
            </a:r>
            <a:endParaRPr sz="155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6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Backend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Processing &amp;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Workflow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latin typeface="Arial MT"/>
                <a:cs typeface="Arial MT"/>
              </a:rPr>
              <a:t>Assigns</a:t>
            </a:r>
            <a:r>
              <a:rPr sz="1550" spc="1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reported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issues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appropriate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municipal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departments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manages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resolution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flow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Authority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Dashboard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ts val="1855"/>
              </a:lnSpc>
              <a:spcBef>
                <a:spcPts val="45"/>
              </a:spcBef>
            </a:pPr>
            <a:r>
              <a:rPr sz="1550" dirty="0">
                <a:latin typeface="Arial MT"/>
                <a:cs typeface="Arial MT"/>
              </a:rPr>
              <a:t>Allows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officials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view,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update,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prioritize,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close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reported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complaints.</a:t>
            </a:r>
            <a:endParaRPr sz="1550">
              <a:latin typeface="Arial MT"/>
              <a:cs typeface="Arial MT"/>
            </a:endParaRPr>
          </a:p>
          <a:p>
            <a:pPr marL="91440" indent="-88900">
              <a:lnSpc>
                <a:spcPts val="2155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Status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Tracking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Notification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270"/>
              </a:spcBef>
            </a:pPr>
            <a:r>
              <a:rPr sz="1550" dirty="0">
                <a:latin typeface="Arial MT"/>
                <a:cs typeface="Arial MT"/>
              </a:rPr>
              <a:t>Sends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real-time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updates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notifications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users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about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complaint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progress.</a:t>
            </a:r>
            <a:endParaRPr sz="1550">
              <a:latin typeface="Arial MT"/>
              <a:cs typeface="Arial MT"/>
            </a:endParaRPr>
          </a:p>
          <a:p>
            <a:pPr marL="91440" indent="-88900">
              <a:lnSpc>
                <a:spcPts val="2130"/>
              </a:lnSpc>
              <a:spcBef>
                <a:spcPts val="6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Feedback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Analytics</a:t>
            </a:r>
            <a:r>
              <a:rPr sz="1800" b="1" spc="-10" dirty="0">
                <a:latin typeface="Arial"/>
                <a:cs typeface="Arial"/>
              </a:rPr>
              <a:t> Module:</a:t>
            </a:r>
            <a:endParaRPr sz="1800">
              <a:latin typeface="Arial"/>
              <a:cs typeface="Arial"/>
            </a:endParaRPr>
          </a:p>
          <a:p>
            <a:pPr marL="902335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Collects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citizen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feedback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reports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performance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decision-making.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125"/>
              </a:spcBef>
            </a:pPr>
            <a:r>
              <a:rPr dirty="0"/>
              <a:t>Software</a:t>
            </a:r>
            <a:r>
              <a:rPr spc="90" dirty="0"/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spc="-10" dirty="0"/>
              <a:t>Hardware: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235" y="1152588"/>
            <a:ext cx="5962650" cy="40989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420"/>
              </a:spcBef>
            </a:pP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Software</a:t>
            </a:r>
            <a:r>
              <a:rPr sz="1800" b="1" u="sng" spc="-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Requirements:</a:t>
            </a:r>
            <a:endParaRPr sz="1800">
              <a:latin typeface="Cambria"/>
              <a:cs typeface="Cambria"/>
            </a:endParaRPr>
          </a:p>
          <a:p>
            <a:pPr marL="146050" indent="-133350">
              <a:lnSpc>
                <a:spcPct val="100000"/>
              </a:lnSpc>
              <a:spcBef>
                <a:spcPts val="32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spc="-10" dirty="0">
                <a:latin typeface="Calibri"/>
                <a:cs typeface="Calibri"/>
              </a:rPr>
              <a:t>Operating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System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Windows /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Linux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macOS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165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Frontend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Technologies</a:t>
            </a:r>
            <a:r>
              <a:rPr sz="1800" spc="-20" dirty="0">
                <a:latin typeface="Calibri"/>
                <a:cs typeface="Calibri"/>
              </a:rPr>
              <a:t>: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HTML,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JavaScript,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React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ts val="213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Backend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Technologies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Node.js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Express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Java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Spring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Boot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ts val="2130"/>
              </a:lnSpc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Database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MySQL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PostgreSQL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MongoDB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Web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Browser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Google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Chrome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10" dirty="0">
                <a:latin typeface="Calibri"/>
                <a:cs typeface="Calibri"/>
              </a:rPr>
              <a:t> Firefox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Tools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Git,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GitHub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APIs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Maps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Notification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Services</a:t>
            </a:r>
            <a:endParaRPr sz="18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470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Hardware</a:t>
            </a:r>
            <a:r>
              <a:rPr sz="1800" b="1" u="sng" spc="-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Requirements:</a:t>
            </a:r>
            <a:endParaRPr sz="1800">
              <a:latin typeface="Cambria"/>
              <a:cs typeface="Cambria"/>
            </a:endParaRPr>
          </a:p>
          <a:p>
            <a:pPr marL="146050" indent="-133350">
              <a:lnSpc>
                <a:spcPct val="100000"/>
              </a:lnSpc>
              <a:spcBef>
                <a:spcPts val="395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spc="-10" dirty="0">
                <a:latin typeface="Calibri"/>
                <a:cs typeface="Calibri"/>
              </a:rPr>
              <a:t>Processor: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above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9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RAM: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Minimum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Storage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256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GB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higher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Server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(Cloud):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Firebase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Azure</a:t>
            </a:r>
            <a:endParaRPr sz="180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46050" algn="l"/>
              </a:tabLst>
            </a:pPr>
            <a:r>
              <a:rPr sz="1800" b="1" dirty="0">
                <a:latin typeface="Calibri"/>
                <a:cs typeface="Calibri"/>
              </a:rPr>
              <a:t>User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Devices: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Smartphone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Internet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4" y="990600"/>
            <a:ext cx="10877550" cy="5219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dirty="0"/>
              <a:t>Timeline</a:t>
            </a:r>
            <a:r>
              <a:rPr spc="-2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dirty="0"/>
              <a:t>(Gantt</a:t>
            </a:r>
            <a:r>
              <a:rPr spc="-114" dirty="0"/>
              <a:t> </a:t>
            </a:r>
            <a:r>
              <a:rPr spc="-10" dirty="0"/>
              <a:t>Chart)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Github</a:t>
            </a:r>
            <a:r>
              <a:rPr spc="-20" dirty="0"/>
              <a:t> 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7750" y="1178242"/>
            <a:ext cx="65982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cs typeface="Verdana"/>
                <a:hlinkClick r:id="rId2"/>
              </a:rPr>
              <a:t>https://github.com/Msidhu07/CivicConnect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-114" dirty="0"/>
              <a:t> </a:t>
            </a:r>
            <a:r>
              <a:rPr dirty="0"/>
              <a:t>(IEEE</a:t>
            </a:r>
            <a:r>
              <a:rPr spc="-10" dirty="0"/>
              <a:t> </a:t>
            </a:r>
            <a:r>
              <a:rPr dirty="0"/>
              <a:t>Paper</a:t>
            </a:r>
            <a:r>
              <a:rPr spc="-150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389255">
              <a:lnSpc>
                <a:spcPct val="100000"/>
              </a:lnSpc>
              <a:spcBef>
                <a:spcPts val="125"/>
              </a:spcBef>
            </a:pPr>
            <a:r>
              <a:rPr dirty="0"/>
              <a:t>[</a:t>
            </a:r>
            <a:r>
              <a:rPr spc="-50" dirty="0"/>
              <a:t> </a:t>
            </a:r>
            <a:r>
              <a:rPr dirty="0"/>
              <a:t>1</a:t>
            </a:r>
            <a:r>
              <a:rPr spc="-70" dirty="0"/>
              <a:t> </a:t>
            </a:r>
            <a:r>
              <a:rPr dirty="0"/>
              <a:t>]</a:t>
            </a:r>
            <a:r>
              <a:rPr spc="-40" dirty="0"/>
              <a:t> </a:t>
            </a:r>
            <a:r>
              <a:rPr spc="-10" dirty="0"/>
              <a:t>Brabham,</a:t>
            </a:r>
            <a:r>
              <a:rPr spc="-95" dirty="0"/>
              <a:t> </a:t>
            </a:r>
            <a:r>
              <a:rPr dirty="0"/>
              <a:t>D.</a:t>
            </a:r>
            <a:r>
              <a:rPr spc="-85" dirty="0"/>
              <a:t> </a:t>
            </a:r>
            <a:r>
              <a:rPr dirty="0"/>
              <a:t>C.,</a:t>
            </a:r>
            <a:r>
              <a:rPr spc="-60" dirty="0"/>
              <a:t> </a:t>
            </a:r>
            <a:r>
              <a:rPr i="1" dirty="0">
                <a:latin typeface="Arial"/>
                <a:cs typeface="Arial"/>
              </a:rPr>
              <a:t>Crowdsourcing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in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Public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Sector</a:t>
            </a:r>
            <a:r>
              <a:rPr dirty="0"/>
              <a:t>,</a:t>
            </a:r>
            <a:r>
              <a:rPr spc="-40" dirty="0"/>
              <a:t> </a:t>
            </a:r>
            <a:r>
              <a:rPr dirty="0"/>
              <a:t>Georgetown</a:t>
            </a:r>
            <a:r>
              <a:rPr spc="-65" dirty="0"/>
              <a:t> </a:t>
            </a:r>
            <a:r>
              <a:rPr spc="-10" dirty="0"/>
              <a:t>University </a:t>
            </a:r>
            <a:r>
              <a:rPr dirty="0"/>
              <a:t>Press,</a:t>
            </a:r>
            <a:r>
              <a:rPr spc="-55" dirty="0"/>
              <a:t> </a:t>
            </a:r>
            <a:r>
              <a:rPr spc="-20" dirty="0"/>
              <a:t>2015.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pc="-20" dirty="0"/>
          </a:p>
          <a:p>
            <a:pPr marL="12700" marR="2311400">
              <a:lnSpc>
                <a:spcPct val="100000"/>
              </a:lnSpc>
            </a:pPr>
            <a:r>
              <a:rPr dirty="0"/>
              <a:t>[</a:t>
            </a:r>
            <a:r>
              <a:rPr spc="-7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]</a:t>
            </a:r>
            <a:r>
              <a:rPr spc="-70" dirty="0"/>
              <a:t> </a:t>
            </a:r>
            <a:r>
              <a:rPr dirty="0"/>
              <a:t>Open311</a:t>
            </a:r>
            <a:r>
              <a:rPr spc="-40" dirty="0"/>
              <a:t> </a:t>
            </a:r>
            <a:r>
              <a:rPr dirty="0"/>
              <a:t>Consortium,</a:t>
            </a:r>
            <a:r>
              <a:rPr spc="-65" dirty="0"/>
              <a:t> </a:t>
            </a:r>
            <a:r>
              <a:rPr i="1" dirty="0">
                <a:latin typeface="Arial"/>
                <a:cs typeface="Arial"/>
              </a:rPr>
              <a:t>Open311</a:t>
            </a:r>
            <a:r>
              <a:rPr i="1" spc="-1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Service</a:t>
            </a:r>
            <a:r>
              <a:rPr i="1" spc="-9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Request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Platform</a:t>
            </a:r>
            <a:r>
              <a:rPr spc="-10" dirty="0"/>
              <a:t>,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https://www.open311.org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2"/>
            </a:endParaRPr>
          </a:p>
          <a:p>
            <a:pPr marL="12700" marR="5080">
              <a:lnSpc>
                <a:spcPct val="100000"/>
              </a:lnSpc>
            </a:pPr>
            <a:r>
              <a:rPr dirty="0"/>
              <a:t>[</a:t>
            </a:r>
            <a:r>
              <a:rPr spc="-35" dirty="0"/>
              <a:t> </a:t>
            </a:r>
            <a:r>
              <a:rPr dirty="0"/>
              <a:t>3</a:t>
            </a:r>
            <a:r>
              <a:rPr spc="-65" dirty="0"/>
              <a:t> </a:t>
            </a:r>
            <a:r>
              <a:rPr dirty="0"/>
              <a:t>]</a:t>
            </a:r>
            <a:r>
              <a:rPr spc="-25" dirty="0"/>
              <a:t> </a:t>
            </a:r>
            <a:r>
              <a:rPr dirty="0"/>
              <a:t>Nam,</a:t>
            </a:r>
            <a:r>
              <a:rPr spc="-5" dirty="0"/>
              <a:t> </a:t>
            </a:r>
            <a:r>
              <a:rPr dirty="0"/>
              <a:t>T.,</a:t>
            </a:r>
            <a:r>
              <a:rPr spc="-5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Pardo,</a:t>
            </a:r>
            <a:r>
              <a:rPr spc="-25" dirty="0"/>
              <a:t> </a:t>
            </a:r>
            <a:r>
              <a:rPr dirty="0"/>
              <a:t>T. A.,</a:t>
            </a:r>
            <a:r>
              <a:rPr spc="-15" dirty="0"/>
              <a:t> </a:t>
            </a:r>
            <a:r>
              <a:rPr dirty="0"/>
              <a:t>“Smart</a:t>
            </a:r>
            <a:r>
              <a:rPr spc="-70" dirty="0"/>
              <a:t> </a:t>
            </a:r>
            <a:r>
              <a:rPr dirty="0"/>
              <a:t>City</a:t>
            </a:r>
            <a:r>
              <a:rPr spc="-12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Urban</a:t>
            </a:r>
            <a:r>
              <a:rPr spc="-90" dirty="0"/>
              <a:t> </a:t>
            </a:r>
            <a:r>
              <a:rPr spc="-10" dirty="0"/>
              <a:t>Innovation:</a:t>
            </a:r>
            <a:r>
              <a:rPr spc="-105" dirty="0"/>
              <a:t> </a:t>
            </a:r>
            <a:r>
              <a:rPr dirty="0"/>
              <a:t>Focusing</a:t>
            </a:r>
            <a:r>
              <a:rPr spc="-100" dirty="0"/>
              <a:t> </a:t>
            </a:r>
            <a:r>
              <a:rPr spc="-25" dirty="0"/>
              <a:t>on </a:t>
            </a:r>
            <a:r>
              <a:rPr spc="-10" dirty="0"/>
              <a:t>Management,</a:t>
            </a:r>
            <a:r>
              <a:rPr spc="-135" dirty="0"/>
              <a:t> </a:t>
            </a:r>
            <a:r>
              <a:rPr dirty="0"/>
              <a:t>Policy,</a:t>
            </a:r>
            <a:r>
              <a:rPr spc="-9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Context,”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Proceedings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1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5th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International</a:t>
            </a:r>
            <a:r>
              <a:rPr i="1" spc="-9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Conference </a:t>
            </a:r>
            <a:r>
              <a:rPr i="1" dirty="0">
                <a:latin typeface="Arial"/>
                <a:cs typeface="Arial"/>
              </a:rPr>
              <a:t>on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Theory</a:t>
            </a:r>
            <a:r>
              <a:rPr i="1" spc="-1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-8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Practice</a:t>
            </a:r>
            <a:r>
              <a:rPr i="1" spc="-9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1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Electronic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Governance</a:t>
            </a:r>
            <a:r>
              <a:rPr dirty="0"/>
              <a:t>,</a:t>
            </a:r>
            <a:r>
              <a:rPr spc="-15" dirty="0"/>
              <a:t> </a:t>
            </a:r>
            <a:r>
              <a:rPr spc="-10" dirty="0"/>
              <a:t>2011.</a:t>
            </a: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pc="-10" dirty="0"/>
          </a:p>
          <a:p>
            <a:pPr marL="12700" marR="60960">
              <a:lnSpc>
                <a:spcPct val="100000"/>
              </a:lnSpc>
            </a:pPr>
            <a:r>
              <a:rPr dirty="0"/>
              <a:t>[</a:t>
            </a:r>
            <a:r>
              <a:rPr spc="-40" dirty="0"/>
              <a:t> </a:t>
            </a:r>
            <a:r>
              <a:rPr dirty="0"/>
              <a:t>4</a:t>
            </a:r>
            <a:r>
              <a:rPr spc="-70" dirty="0"/>
              <a:t> </a:t>
            </a:r>
            <a:r>
              <a:rPr dirty="0"/>
              <a:t>]</a:t>
            </a:r>
            <a:r>
              <a:rPr spc="-30" dirty="0"/>
              <a:t> </a:t>
            </a:r>
            <a:r>
              <a:rPr dirty="0"/>
              <a:t>Batty,</a:t>
            </a:r>
            <a:r>
              <a:rPr spc="-50" dirty="0"/>
              <a:t> </a:t>
            </a:r>
            <a:r>
              <a:rPr dirty="0"/>
              <a:t>M.</a:t>
            </a:r>
            <a:r>
              <a:rPr spc="-15" dirty="0"/>
              <a:t> </a:t>
            </a:r>
            <a:r>
              <a:rPr dirty="0"/>
              <a:t>et</a:t>
            </a:r>
            <a:r>
              <a:rPr spc="-125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dirty="0"/>
              <a:t>“Smart</a:t>
            </a:r>
            <a:r>
              <a:rPr spc="-150" dirty="0"/>
              <a:t> </a:t>
            </a:r>
            <a:r>
              <a:rPr dirty="0"/>
              <a:t>Cities</a:t>
            </a:r>
            <a:r>
              <a:rPr spc="-1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Future,”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European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Physical</a:t>
            </a:r>
            <a:r>
              <a:rPr i="1" spc="-9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Journal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Special </a:t>
            </a:r>
            <a:r>
              <a:rPr i="1" dirty="0">
                <a:latin typeface="Arial"/>
                <a:cs typeface="Arial"/>
              </a:rPr>
              <a:t>Topics</a:t>
            </a:r>
            <a:r>
              <a:rPr dirty="0"/>
              <a:t>,</a:t>
            </a:r>
            <a:r>
              <a:rPr spc="-15" dirty="0"/>
              <a:t> </a:t>
            </a:r>
            <a:r>
              <a:rPr dirty="0"/>
              <a:t>Vol.</a:t>
            </a:r>
            <a:r>
              <a:rPr spc="-50" dirty="0"/>
              <a:t> </a:t>
            </a:r>
            <a:r>
              <a:rPr dirty="0"/>
              <a:t>214,</a:t>
            </a:r>
            <a:r>
              <a:rPr spc="-140" dirty="0"/>
              <a:t> </a:t>
            </a:r>
            <a:r>
              <a:rPr dirty="0"/>
              <a:t>No. 1,</a:t>
            </a:r>
            <a:r>
              <a:rPr spc="-35" dirty="0"/>
              <a:t> </a:t>
            </a:r>
            <a:r>
              <a:rPr spc="-20" dirty="0"/>
              <a:t>2012.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pc="-20" dirty="0"/>
          </a:p>
          <a:p>
            <a:pPr marL="12700" marR="628650">
              <a:lnSpc>
                <a:spcPct val="100000"/>
              </a:lnSpc>
            </a:pPr>
            <a:r>
              <a:rPr dirty="0"/>
              <a:t>[</a:t>
            </a:r>
            <a:r>
              <a:rPr spc="-55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]Government</a:t>
            </a:r>
            <a:r>
              <a:rPr spc="-9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National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e-</a:t>
            </a:r>
            <a:r>
              <a:rPr i="1" dirty="0">
                <a:latin typeface="Arial"/>
                <a:cs typeface="Arial"/>
              </a:rPr>
              <a:t>Governance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Plan</a:t>
            </a:r>
            <a:r>
              <a:rPr i="1" spc="-114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-114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Smart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City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Mission</a:t>
            </a:r>
            <a:r>
              <a:rPr spc="-10" dirty="0"/>
              <a:t>,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https://www.data.gov.in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References(IEEE</a:t>
            </a:r>
            <a:r>
              <a:rPr spc="-100" dirty="0"/>
              <a:t> </a:t>
            </a:r>
            <a:r>
              <a:rPr dirty="0"/>
              <a:t>Paper</a:t>
            </a:r>
            <a:r>
              <a:rPr spc="-7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310" y="995997"/>
            <a:ext cx="11262360" cy="525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[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Ushahidi,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“Ushahidi: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Crowdsourcing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Crisis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Mapping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Platform,”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https://www.ushahidi.com</a:t>
            </a:r>
            <a:endParaRPr sz="1800">
              <a:latin typeface="Arial MT"/>
              <a:cs typeface="Arial MT"/>
            </a:endParaRPr>
          </a:p>
          <a:p>
            <a:pPr marL="12700" marR="514350">
              <a:lnSpc>
                <a:spcPct val="198100"/>
              </a:lnSpc>
              <a:spcBef>
                <a:spcPts val="75"/>
              </a:spcBef>
            </a:pPr>
            <a:r>
              <a:rPr sz="1800" dirty="0">
                <a:latin typeface="Arial MT"/>
                <a:cs typeface="Arial MT"/>
              </a:rPr>
              <a:t>[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Data.gov,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U.S.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Government’s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Data,”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Available: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https://www.data.gov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UN-</a:t>
            </a:r>
            <a:r>
              <a:rPr sz="1800" dirty="0">
                <a:latin typeface="Arial MT"/>
                <a:cs typeface="Arial MT"/>
              </a:rPr>
              <a:t>Habitat,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“Urban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Innovation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Citizen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Participation,”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Available: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https://unhabitat.org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Arial MT"/>
              <a:cs typeface="Arial MT"/>
            </a:endParaRPr>
          </a:p>
          <a:p>
            <a:pPr marL="12700" marR="825500">
              <a:lnSpc>
                <a:spcPct val="100800"/>
              </a:lnSpc>
            </a:pPr>
            <a:r>
              <a:rPr sz="1800" dirty="0">
                <a:latin typeface="Arial MT"/>
                <a:cs typeface="Arial MT"/>
              </a:rPr>
              <a:t>[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9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Organisation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Economic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Co-</a:t>
            </a:r>
            <a:r>
              <a:rPr sz="1800" dirty="0">
                <a:latin typeface="Arial MT"/>
                <a:cs typeface="Arial MT"/>
              </a:rPr>
              <a:t>operation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Development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(OECD),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“Digital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Government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Civic </a:t>
            </a:r>
            <a:r>
              <a:rPr sz="1800" dirty="0">
                <a:latin typeface="Arial MT"/>
                <a:cs typeface="Arial MT"/>
              </a:rPr>
              <a:t>Engagement,”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https://www.oecd.org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436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[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10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Google, “Google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Documentation,”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 Available: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https://developers.google.com/maps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11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IEEE,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“Smart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Cities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Civic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Engagement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Technologies,”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IEEE</a:t>
            </a:r>
            <a:r>
              <a:rPr sz="1800" i="1" spc="-6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Xplore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Digital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Library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[Online].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660"/>
              </a:lnSpc>
            </a:pPr>
            <a:r>
              <a:rPr sz="1800" dirty="0">
                <a:latin typeface="Arial MT"/>
                <a:cs typeface="Arial MT"/>
              </a:rPr>
              <a:t>Available: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https://ieeexplore.ieee.org</a:t>
            </a:r>
            <a:endParaRPr sz="1800">
              <a:latin typeface="Arial MT"/>
              <a:cs typeface="Arial MT"/>
            </a:endParaRPr>
          </a:p>
          <a:p>
            <a:pPr marL="12700" marR="269875">
              <a:lnSpc>
                <a:spcPts val="435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[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12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Open311,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“Open311: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Standard for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Civic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Issue Reporting,”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Available: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https://www.open311.org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MyGov,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“MyGov—Citizen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Engagement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Platform,”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Government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India,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[Online].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670"/>
              </a:lnSpc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https://www.mygov.in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1438275"/>
            <a:ext cx="3886200" cy="393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1526</Words>
  <Application>Microsoft Office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Georgia</vt:lpstr>
      <vt:lpstr>Verdana</vt:lpstr>
      <vt:lpstr>Office Theme</vt:lpstr>
      <vt:lpstr>CSE7101- Capstone Project Review-2</vt:lpstr>
      <vt:lpstr>Content</vt:lpstr>
      <vt:lpstr>Problem Statement Number: SIH25031</vt:lpstr>
      <vt:lpstr>Abstract:</vt:lpstr>
      <vt:lpstr>Literature Survey:</vt:lpstr>
      <vt:lpstr>Literature Survey:</vt:lpstr>
      <vt:lpstr>Literature Survey:</vt:lpstr>
      <vt:lpstr>Objectives :</vt:lpstr>
      <vt:lpstr>Exisiting method &amp; Drawbacks:</vt:lpstr>
      <vt:lpstr>Proposed Method &amp; Feasibility Study:</vt:lpstr>
      <vt:lpstr>Architecture Diagram:</vt:lpstr>
      <vt:lpstr>Modules:</vt:lpstr>
      <vt:lpstr>Software and Hardware:</vt:lpstr>
      <vt:lpstr>Timeline of the Project (Gantt Chart)</vt:lpstr>
      <vt:lpstr>Github Link</vt:lpstr>
      <vt:lpstr>References (IEEE Paper format)</vt:lpstr>
      <vt:lpstr>References(IEEE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 Vardhan</dc:creator>
  <cp:lastModifiedBy>M Sidhardha</cp:lastModifiedBy>
  <cp:revision>1</cp:revision>
  <dcterms:created xsi:type="dcterms:W3CDTF">2026-02-01T07:34:29Z</dcterms:created>
  <dcterms:modified xsi:type="dcterms:W3CDTF">2026-02-03T02:51:52Z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LastSaved">
    <vt:filetime>2026-02-01T00:00:00Z</vt:filetime>
  </property>
</Properties>
</file>