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jpg" ContentType="image/jp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2192000" cy="6858000"/>
  <p:notesSz cx="12192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046797" y="353949"/>
            <a:ext cx="1908810" cy="4495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50" b="1" i="0">
                <a:solidFill>
                  <a:srgbClr val="17365D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50" b="1" i="0">
                <a:solidFill>
                  <a:srgbClr val="17365D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50" b="1" i="0">
                <a:solidFill>
                  <a:srgbClr val="17365D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50" b="1" i="0">
                <a:solidFill>
                  <a:srgbClr val="17365D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jpg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809625" y="885824"/>
            <a:ext cx="10668000" cy="57150"/>
          </a:xfrm>
          <a:custGeom>
            <a:avLst/>
            <a:gdLst/>
            <a:ahLst/>
            <a:cxnLst/>
            <a:rect l="l" t="t" r="r" b="b"/>
            <a:pathLst>
              <a:path w="10668000" h="57150">
                <a:moveTo>
                  <a:pt x="10668000" y="45720"/>
                </a:moveTo>
                <a:lnTo>
                  <a:pt x="0" y="45720"/>
                </a:lnTo>
                <a:lnTo>
                  <a:pt x="0" y="57150"/>
                </a:lnTo>
                <a:lnTo>
                  <a:pt x="10668000" y="57150"/>
                </a:lnTo>
                <a:lnTo>
                  <a:pt x="10668000" y="45720"/>
                </a:lnTo>
                <a:close/>
              </a:path>
              <a:path w="10668000" h="57150">
                <a:moveTo>
                  <a:pt x="10668000" y="0"/>
                </a:moveTo>
                <a:lnTo>
                  <a:pt x="0" y="0"/>
                </a:lnTo>
                <a:lnTo>
                  <a:pt x="0" y="34290"/>
                </a:lnTo>
                <a:lnTo>
                  <a:pt x="10668000" y="34290"/>
                </a:lnTo>
                <a:lnTo>
                  <a:pt x="106680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7" name="bg object 1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5991225"/>
            <a:ext cx="12191999" cy="866773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76300" y="256222"/>
            <a:ext cx="7770495" cy="61366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50" b="1" i="0">
                <a:solidFill>
                  <a:srgbClr val="17365D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49934" y="1079182"/>
            <a:ext cx="9453245" cy="46075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.jp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www.open311.org/" TargetMode="External"/><Relationship Id="rId3" Type="http://schemas.openxmlformats.org/officeDocument/2006/relationships/hyperlink" Target="https://www.data.gov.in/" TargetMode="External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github.com/Msidhu07/CivicConnect" TargetMode="External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jp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82978" y="1163574"/>
            <a:ext cx="8924925" cy="755015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algn="ctr">
              <a:lnSpc>
                <a:spcPts val="2865"/>
              </a:lnSpc>
              <a:spcBef>
                <a:spcPts val="105"/>
              </a:spcBef>
            </a:pPr>
            <a:r>
              <a:rPr dirty="0" sz="2400">
                <a:latin typeface="Verdana"/>
                <a:cs typeface="Verdana"/>
              </a:rPr>
              <a:t>Crowdsourced</a:t>
            </a:r>
            <a:r>
              <a:rPr dirty="0" sz="2400" spc="-90">
                <a:latin typeface="Verdana"/>
                <a:cs typeface="Verdana"/>
              </a:rPr>
              <a:t> </a:t>
            </a:r>
            <a:r>
              <a:rPr dirty="0" sz="2400">
                <a:latin typeface="Verdana"/>
                <a:cs typeface="Verdana"/>
              </a:rPr>
              <a:t>Civic</a:t>
            </a:r>
            <a:r>
              <a:rPr dirty="0" sz="2400" spc="-45">
                <a:latin typeface="Verdana"/>
                <a:cs typeface="Verdana"/>
              </a:rPr>
              <a:t> </a:t>
            </a:r>
            <a:r>
              <a:rPr dirty="0" sz="2400">
                <a:latin typeface="Verdana"/>
                <a:cs typeface="Verdana"/>
              </a:rPr>
              <a:t>Issue</a:t>
            </a:r>
            <a:r>
              <a:rPr dirty="0" sz="2400" spc="-75">
                <a:latin typeface="Verdana"/>
                <a:cs typeface="Verdana"/>
              </a:rPr>
              <a:t> </a:t>
            </a:r>
            <a:r>
              <a:rPr dirty="0" sz="2400">
                <a:latin typeface="Verdana"/>
                <a:cs typeface="Verdana"/>
              </a:rPr>
              <a:t>Reporting</a:t>
            </a:r>
            <a:r>
              <a:rPr dirty="0" sz="2400" spc="-20">
                <a:latin typeface="Verdana"/>
                <a:cs typeface="Verdana"/>
              </a:rPr>
              <a:t> </a:t>
            </a:r>
            <a:r>
              <a:rPr dirty="0" sz="2400">
                <a:latin typeface="Verdana"/>
                <a:cs typeface="Verdana"/>
              </a:rPr>
              <a:t>And</a:t>
            </a:r>
            <a:r>
              <a:rPr dirty="0" sz="2400" spc="-20">
                <a:latin typeface="Verdana"/>
                <a:cs typeface="Verdana"/>
              </a:rPr>
              <a:t> </a:t>
            </a:r>
            <a:r>
              <a:rPr dirty="0" sz="2400" spc="-10">
                <a:latin typeface="Verdana"/>
                <a:cs typeface="Verdana"/>
              </a:rPr>
              <a:t>Resolution</a:t>
            </a:r>
            <a:endParaRPr sz="2400">
              <a:latin typeface="Verdana"/>
              <a:cs typeface="Verdana"/>
            </a:endParaRPr>
          </a:p>
          <a:p>
            <a:pPr algn="ctr" marL="10795">
              <a:lnSpc>
                <a:spcPts val="2865"/>
              </a:lnSpc>
            </a:pPr>
            <a:r>
              <a:rPr dirty="0" sz="2400" spc="-10">
                <a:latin typeface="Verdana"/>
                <a:cs typeface="Verdana"/>
              </a:rPr>
              <a:t>System</a:t>
            </a:r>
            <a:endParaRPr sz="2400">
              <a:latin typeface="Verdana"/>
              <a:cs typeface="Verdana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78739" y="2080577"/>
            <a:ext cx="2549525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 b="1">
                <a:solidFill>
                  <a:srgbClr val="17365D"/>
                </a:solidFill>
                <a:latin typeface="Cambria"/>
                <a:cs typeface="Cambria"/>
              </a:rPr>
              <a:t>Batch</a:t>
            </a:r>
            <a:r>
              <a:rPr dirty="0" sz="1800" spc="-100" b="1">
                <a:solidFill>
                  <a:srgbClr val="17365D"/>
                </a:solidFill>
                <a:latin typeface="Cambria"/>
                <a:cs typeface="Cambria"/>
              </a:rPr>
              <a:t> </a:t>
            </a:r>
            <a:r>
              <a:rPr dirty="0" sz="1800" b="1">
                <a:solidFill>
                  <a:srgbClr val="17365D"/>
                </a:solidFill>
                <a:latin typeface="Cambria"/>
                <a:cs typeface="Cambria"/>
              </a:rPr>
              <a:t>Number</a:t>
            </a:r>
            <a:r>
              <a:rPr dirty="0" sz="1800" spc="20" b="1">
                <a:solidFill>
                  <a:srgbClr val="17365D"/>
                </a:solidFill>
                <a:latin typeface="Cambria"/>
                <a:cs typeface="Cambria"/>
              </a:rPr>
              <a:t> </a:t>
            </a:r>
            <a:r>
              <a:rPr dirty="0" sz="1800" b="1">
                <a:solidFill>
                  <a:srgbClr val="17365D"/>
                </a:solidFill>
                <a:latin typeface="Cambria"/>
                <a:cs typeface="Cambria"/>
              </a:rPr>
              <a:t>:</a:t>
            </a:r>
            <a:r>
              <a:rPr dirty="0" sz="1800" spc="-5" b="1">
                <a:solidFill>
                  <a:srgbClr val="17365D"/>
                </a:solidFill>
                <a:latin typeface="Cambria"/>
                <a:cs typeface="Cambria"/>
              </a:rPr>
              <a:t> </a:t>
            </a:r>
            <a:r>
              <a:rPr dirty="0" sz="1800" spc="-10" b="1">
                <a:solidFill>
                  <a:srgbClr val="17365D"/>
                </a:solidFill>
                <a:latin typeface="Cambria"/>
                <a:cs typeface="Cambria"/>
              </a:rPr>
              <a:t>CSE_139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78739" y="2548572"/>
            <a:ext cx="11690985" cy="31908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r" marR="11430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17365D"/>
                </a:solidFill>
                <a:latin typeface="Cambria"/>
                <a:cs typeface="Cambria"/>
              </a:rPr>
              <a:t>Under</a:t>
            </a:r>
            <a:r>
              <a:rPr dirty="0" sz="1800" spc="-130" b="1">
                <a:solidFill>
                  <a:srgbClr val="17365D"/>
                </a:solidFill>
                <a:latin typeface="Cambria"/>
                <a:cs typeface="Cambria"/>
              </a:rPr>
              <a:t> </a:t>
            </a:r>
            <a:r>
              <a:rPr dirty="0" sz="1800" b="1">
                <a:solidFill>
                  <a:srgbClr val="17365D"/>
                </a:solidFill>
                <a:latin typeface="Cambria"/>
                <a:cs typeface="Cambria"/>
              </a:rPr>
              <a:t>the</a:t>
            </a:r>
            <a:r>
              <a:rPr dirty="0" sz="1800" spc="-100" b="1">
                <a:solidFill>
                  <a:srgbClr val="17365D"/>
                </a:solidFill>
                <a:latin typeface="Cambria"/>
                <a:cs typeface="Cambria"/>
              </a:rPr>
              <a:t> </a:t>
            </a:r>
            <a:r>
              <a:rPr dirty="0" sz="1800" b="1">
                <a:solidFill>
                  <a:srgbClr val="17365D"/>
                </a:solidFill>
                <a:latin typeface="Cambria"/>
                <a:cs typeface="Cambria"/>
              </a:rPr>
              <a:t>Supervision</a:t>
            </a:r>
            <a:r>
              <a:rPr dirty="0" sz="1800" spc="-80" b="1">
                <a:solidFill>
                  <a:srgbClr val="17365D"/>
                </a:solidFill>
                <a:latin typeface="Cambria"/>
                <a:cs typeface="Cambria"/>
              </a:rPr>
              <a:t> </a:t>
            </a:r>
            <a:r>
              <a:rPr dirty="0" sz="1800" spc="-25" b="1">
                <a:solidFill>
                  <a:srgbClr val="17365D"/>
                </a:solidFill>
                <a:latin typeface="Cambria"/>
                <a:cs typeface="Cambria"/>
              </a:rPr>
              <a:t>of,</a:t>
            </a:r>
            <a:endParaRPr sz="18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1210"/>
              </a:spcBef>
            </a:pPr>
            <a:endParaRPr sz="1800">
              <a:latin typeface="Cambria"/>
              <a:cs typeface="Cambria"/>
            </a:endParaRPr>
          </a:p>
          <a:p>
            <a:pPr algn="r" marR="1689100">
              <a:lnSpc>
                <a:spcPct val="100000"/>
              </a:lnSpc>
              <a:spcBef>
                <a:spcPts val="5"/>
              </a:spcBef>
            </a:pPr>
            <a:r>
              <a:rPr dirty="0" sz="1700" b="1">
                <a:solidFill>
                  <a:srgbClr val="17365D"/>
                </a:solidFill>
                <a:latin typeface="Cambria"/>
                <a:cs typeface="Cambria"/>
              </a:rPr>
              <a:t>Ms.</a:t>
            </a:r>
            <a:r>
              <a:rPr dirty="0" sz="1700" spc="-75" b="1">
                <a:solidFill>
                  <a:srgbClr val="17365D"/>
                </a:solidFill>
                <a:latin typeface="Cambria"/>
                <a:cs typeface="Cambria"/>
              </a:rPr>
              <a:t> </a:t>
            </a:r>
            <a:r>
              <a:rPr dirty="0" sz="1800" b="1">
                <a:solidFill>
                  <a:srgbClr val="001F5F"/>
                </a:solidFill>
                <a:latin typeface="Cambria"/>
                <a:cs typeface="Cambria"/>
              </a:rPr>
              <a:t>Saiqa Khan</a:t>
            </a:r>
            <a:r>
              <a:rPr dirty="0" sz="1800" spc="-75" b="1">
                <a:solidFill>
                  <a:srgbClr val="001F5F"/>
                </a:solidFill>
                <a:latin typeface="Cambria"/>
                <a:cs typeface="Cambria"/>
              </a:rPr>
              <a:t> </a:t>
            </a:r>
            <a:r>
              <a:rPr dirty="0" sz="1400" spc="-50" b="1">
                <a:solidFill>
                  <a:srgbClr val="001F5F"/>
                </a:solidFill>
                <a:latin typeface="Arial"/>
                <a:cs typeface="Arial"/>
              </a:rPr>
              <a:t>N</a:t>
            </a:r>
            <a:endParaRPr sz="1400">
              <a:latin typeface="Arial"/>
              <a:cs typeface="Arial"/>
            </a:endParaRPr>
          </a:p>
          <a:p>
            <a:pPr marL="6507480" marR="5080">
              <a:lnSpc>
                <a:spcPct val="108600"/>
              </a:lnSpc>
              <a:spcBef>
                <a:spcPts val="15"/>
              </a:spcBef>
            </a:pPr>
            <a:r>
              <a:rPr dirty="0" sz="1700" b="1">
                <a:solidFill>
                  <a:srgbClr val="17365D"/>
                </a:solidFill>
                <a:latin typeface="Cambria"/>
                <a:cs typeface="Cambria"/>
              </a:rPr>
              <a:t>Professor</a:t>
            </a:r>
            <a:r>
              <a:rPr dirty="0" sz="1700" spc="20" b="1">
                <a:solidFill>
                  <a:srgbClr val="17365D"/>
                </a:solidFill>
                <a:latin typeface="Cambria"/>
                <a:cs typeface="Cambria"/>
              </a:rPr>
              <a:t> </a:t>
            </a:r>
            <a:r>
              <a:rPr dirty="0" sz="1700" b="1">
                <a:solidFill>
                  <a:srgbClr val="17365D"/>
                </a:solidFill>
                <a:latin typeface="Cambria"/>
                <a:cs typeface="Cambria"/>
              </a:rPr>
              <a:t>/</a:t>
            </a:r>
            <a:r>
              <a:rPr dirty="0" sz="1700" spc="-70" b="1">
                <a:solidFill>
                  <a:srgbClr val="17365D"/>
                </a:solidFill>
                <a:latin typeface="Cambria"/>
                <a:cs typeface="Cambria"/>
              </a:rPr>
              <a:t> </a:t>
            </a:r>
            <a:r>
              <a:rPr dirty="0" sz="1700" spc="-10" b="1">
                <a:solidFill>
                  <a:srgbClr val="17365D"/>
                </a:solidFill>
                <a:latin typeface="Cambria"/>
                <a:cs typeface="Cambria"/>
              </a:rPr>
              <a:t>Associate</a:t>
            </a:r>
            <a:r>
              <a:rPr dirty="0" sz="1700" spc="-85" b="1">
                <a:solidFill>
                  <a:srgbClr val="17365D"/>
                </a:solidFill>
                <a:latin typeface="Cambria"/>
                <a:cs typeface="Cambria"/>
              </a:rPr>
              <a:t> </a:t>
            </a:r>
            <a:r>
              <a:rPr dirty="0" sz="1700" spc="-20" b="1">
                <a:solidFill>
                  <a:srgbClr val="17365D"/>
                </a:solidFill>
                <a:latin typeface="Cambria"/>
                <a:cs typeface="Cambria"/>
              </a:rPr>
              <a:t>Professor</a:t>
            </a:r>
            <a:r>
              <a:rPr dirty="0" sz="1700" spc="-70" b="1">
                <a:solidFill>
                  <a:srgbClr val="17365D"/>
                </a:solidFill>
                <a:latin typeface="Cambria"/>
                <a:cs typeface="Cambria"/>
              </a:rPr>
              <a:t> </a:t>
            </a:r>
            <a:r>
              <a:rPr dirty="0" sz="1700" b="1">
                <a:solidFill>
                  <a:srgbClr val="17365D"/>
                </a:solidFill>
                <a:latin typeface="Cambria"/>
                <a:cs typeface="Cambria"/>
              </a:rPr>
              <a:t>/</a:t>
            </a:r>
            <a:r>
              <a:rPr dirty="0" sz="1700" spc="10" b="1">
                <a:solidFill>
                  <a:srgbClr val="17365D"/>
                </a:solidFill>
                <a:latin typeface="Cambria"/>
                <a:cs typeface="Cambria"/>
              </a:rPr>
              <a:t> </a:t>
            </a:r>
            <a:r>
              <a:rPr dirty="0" sz="1700" spc="-10" b="1">
                <a:solidFill>
                  <a:srgbClr val="17365D"/>
                </a:solidFill>
                <a:latin typeface="Cambria"/>
                <a:cs typeface="Cambria"/>
              </a:rPr>
              <a:t>Assistant</a:t>
            </a:r>
            <a:r>
              <a:rPr dirty="0" sz="1700" spc="-15" b="1">
                <a:solidFill>
                  <a:srgbClr val="17365D"/>
                </a:solidFill>
                <a:latin typeface="Cambria"/>
                <a:cs typeface="Cambria"/>
              </a:rPr>
              <a:t> </a:t>
            </a:r>
            <a:r>
              <a:rPr dirty="0" sz="1700" spc="-10" b="1">
                <a:solidFill>
                  <a:srgbClr val="17365D"/>
                </a:solidFill>
                <a:latin typeface="Cambria"/>
                <a:cs typeface="Cambria"/>
              </a:rPr>
              <a:t>Professor </a:t>
            </a:r>
            <a:r>
              <a:rPr dirty="0" sz="1700" b="1">
                <a:solidFill>
                  <a:srgbClr val="17365D"/>
                </a:solidFill>
                <a:latin typeface="Cambria"/>
                <a:cs typeface="Cambria"/>
              </a:rPr>
              <a:t>School</a:t>
            </a:r>
            <a:r>
              <a:rPr dirty="0" sz="1700" spc="-125" b="1">
                <a:solidFill>
                  <a:srgbClr val="17365D"/>
                </a:solidFill>
                <a:latin typeface="Cambria"/>
                <a:cs typeface="Cambria"/>
              </a:rPr>
              <a:t> </a:t>
            </a:r>
            <a:r>
              <a:rPr dirty="0" sz="1700" b="1">
                <a:solidFill>
                  <a:srgbClr val="17365D"/>
                </a:solidFill>
                <a:latin typeface="Cambria"/>
                <a:cs typeface="Cambria"/>
              </a:rPr>
              <a:t>of</a:t>
            </a:r>
            <a:r>
              <a:rPr dirty="0" sz="1700" spc="-50" b="1">
                <a:solidFill>
                  <a:srgbClr val="17365D"/>
                </a:solidFill>
                <a:latin typeface="Cambria"/>
                <a:cs typeface="Cambria"/>
              </a:rPr>
              <a:t> </a:t>
            </a:r>
            <a:r>
              <a:rPr dirty="0" sz="1700" spc="-10" b="1">
                <a:solidFill>
                  <a:srgbClr val="17365D"/>
                </a:solidFill>
                <a:latin typeface="Cambria"/>
                <a:cs typeface="Cambria"/>
              </a:rPr>
              <a:t>Computer</a:t>
            </a:r>
            <a:r>
              <a:rPr dirty="0" sz="1700" spc="10" b="1">
                <a:solidFill>
                  <a:srgbClr val="17365D"/>
                </a:solidFill>
                <a:latin typeface="Cambria"/>
                <a:cs typeface="Cambria"/>
              </a:rPr>
              <a:t> </a:t>
            </a:r>
            <a:r>
              <a:rPr dirty="0" sz="1700" spc="-20" b="1">
                <a:solidFill>
                  <a:srgbClr val="17365D"/>
                </a:solidFill>
                <a:latin typeface="Cambria"/>
                <a:cs typeface="Cambria"/>
              </a:rPr>
              <a:t>Science</a:t>
            </a:r>
            <a:r>
              <a:rPr dirty="0" sz="1700" spc="-65" b="1">
                <a:solidFill>
                  <a:srgbClr val="17365D"/>
                </a:solidFill>
                <a:latin typeface="Cambria"/>
                <a:cs typeface="Cambria"/>
              </a:rPr>
              <a:t> </a:t>
            </a:r>
            <a:r>
              <a:rPr dirty="0" sz="1700" b="1">
                <a:solidFill>
                  <a:srgbClr val="17365D"/>
                </a:solidFill>
                <a:latin typeface="Cambria"/>
                <a:cs typeface="Cambria"/>
              </a:rPr>
              <a:t>and</a:t>
            </a:r>
            <a:r>
              <a:rPr dirty="0" sz="1700" spc="-45" b="1">
                <a:solidFill>
                  <a:srgbClr val="17365D"/>
                </a:solidFill>
                <a:latin typeface="Cambria"/>
                <a:cs typeface="Cambria"/>
              </a:rPr>
              <a:t> </a:t>
            </a:r>
            <a:r>
              <a:rPr dirty="0" sz="1700" spc="-10" b="1">
                <a:solidFill>
                  <a:srgbClr val="17365D"/>
                </a:solidFill>
                <a:latin typeface="Cambria"/>
                <a:cs typeface="Cambria"/>
              </a:rPr>
              <a:t>Engineering Presidency</a:t>
            </a:r>
            <a:r>
              <a:rPr dirty="0" sz="1700" spc="-80" b="1">
                <a:solidFill>
                  <a:srgbClr val="17365D"/>
                </a:solidFill>
                <a:latin typeface="Cambria"/>
                <a:cs typeface="Cambria"/>
              </a:rPr>
              <a:t> </a:t>
            </a:r>
            <a:r>
              <a:rPr dirty="0" sz="1700" spc="-10" b="1">
                <a:solidFill>
                  <a:srgbClr val="17365D"/>
                </a:solidFill>
                <a:latin typeface="Cambria"/>
                <a:cs typeface="Cambria"/>
              </a:rPr>
              <a:t>University</a:t>
            </a:r>
            <a:endParaRPr sz="1700">
              <a:latin typeface="Cambria"/>
              <a:cs typeface="Cambria"/>
            </a:endParaRPr>
          </a:p>
          <a:p>
            <a:pPr marL="12700" marR="4815840">
              <a:lnSpc>
                <a:spcPct val="100800"/>
              </a:lnSpc>
              <a:spcBef>
                <a:spcPts val="1600"/>
              </a:spcBef>
            </a:pPr>
            <a:r>
              <a:rPr dirty="0" sz="1800" b="1">
                <a:solidFill>
                  <a:srgbClr val="4F81BA"/>
                </a:solidFill>
                <a:latin typeface="Cambria"/>
                <a:cs typeface="Cambria"/>
              </a:rPr>
              <a:t>Name</a:t>
            </a:r>
            <a:r>
              <a:rPr dirty="0" sz="1800" spc="-75" b="1">
                <a:solidFill>
                  <a:srgbClr val="4F81BA"/>
                </a:solidFill>
                <a:latin typeface="Cambria"/>
                <a:cs typeface="Cambria"/>
              </a:rPr>
              <a:t> </a:t>
            </a:r>
            <a:r>
              <a:rPr dirty="0" sz="1800" b="1">
                <a:solidFill>
                  <a:srgbClr val="4F81BA"/>
                </a:solidFill>
                <a:latin typeface="Cambria"/>
                <a:cs typeface="Cambria"/>
              </a:rPr>
              <a:t>of</a:t>
            </a:r>
            <a:r>
              <a:rPr dirty="0" sz="1800" spc="-55" b="1">
                <a:solidFill>
                  <a:srgbClr val="4F81BA"/>
                </a:solidFill>
                <a:latin typeface="Cambria"/>
                <a:cs typeface="Cambria"/>
              </a:rPr>
              <a:t> </a:t>
            </a:r>
            <a:r>
              <a:rPr dirty="0" sz="1800" b="1">
                <a:solidFill>
                  <a:srgbClr val="4F81BA"/>
                </a:solidFill>
                <a:latin typeface="Cambria"/>
                <a:cs typeface="Cambria"/>
              </a:rPr>
              <a:t>the</a:t>
            </a:r>
            <a:r>
              <a:rPr dirty="0" sz="1800" spc="25" b="1">
                <a:solidFill>
                  <a:srgbClr val="4F81BA"/>
                </a:solidFill>
                <a:latin typeface="Cambria"/>
                <a:cs typeface="Cambria"/>
              </a:rPr>
              <a:t> </a:t>
            </a:r>
            <a:r>
              <a:rPr dirty="0" sz="1800" b="1">
                <a:solidFill>
                  <a:srgbClr val="4F81BA"/>
                </a:solidFill>
                <a:latin typeface="Cambria"/>
                <a:cs typeface="Cambria"/>
              </a:rPr>
              <a:t>Program:</a:t>
            </a:r>
            <a:r>
              <a:rPr dirty="0" sz="1800" spc="-25" b="1">
                <a:solidFill>
                  <a:srgbClr val="4F81BA"/>
                </a:solidFill>
                <a:latin typeface="Cambria"/>
                <a:cs typeface="Cambria"/>
              </a:rPr>
              <a:t> </a:t>
            </a:r>
            <a:r>
              <a:rPr dirty="0" sz="1800" spc="-30" b="1">
                <a:solidFill>
                  <a:srgbClr val="F79346"/>
                </a:solidFill>
                <a:latin typeface="Cambria"/>
                <a:cs typeface="Cambria"/>
              </a:rPr>
              <a:t>B.Tech(Computer</a:t>
            </a:r>
            <a:r>
              <a:rPr dirty="0" sz="1800" spc="-50" b="1">
                <a:solidFill>
                  <a:srgbClr val="F79346"/>
                </a:solidFill>
                <a:latin typeface="Cambria"/>
                <a:cs typeface="Cambria"/>
              </a:rPr>
              <a:t> </a:t>
            </a:r>
            <a:r>
              <a:rPr dirty="0" sz="1800" b="1">
                <a:solidFill>
                  <a:srgbClr val="F79346"/>
                </a:solidFill>
                <a:latin typeface="Cambria"/>
                <a:cs typeface="Cambria"/>
              </a:rPr>
              <a:t>Science</a:t>
            </a:r>
            <a:r>
              <a:rPr dirty="0" sz="1800" spc="-60" b="1">
                <a:solidFill>
                  <a:srgbClr val="F79346"/>
                </a:solidFill>
                <a:latin typeface="Cambria"/>
                <a:cs typeface="Cambria"/>
              </a:rPr>
              <a:t> </a:t>
            </a:r>
            <a:r>
              <a:rPr dirty="0" sz="1800" b="1">
                <a:solidFill>
                  <a:srgbClr val="F79346"/>
                </a:solidFill>
                <a:latin typeface="Cambria"/>
                <a:cs typeface="Cambria"/>
              </a:rPr>
              <a:t>And</a:t>
            </a:r>
            <a:r>
              <a:rPr dirty="0" sz="1800" spc="65" b="1">
                <a:solidFill>
                  <a:srgbClr val="F79346"/>
                </a:solidFill>
                <a:latin typeface="Cambria"/>
                <a:cs typeface="Cambria"/>
              </a:rPr>
              <a:t> </a:t>
            </a:r>
            <a:r>
              <a:rPr dirty="0" sz="1800" spc="-10" b="1">
                <a:solidFill>
                  <a:srgbClr val="F79346"/>
                </a:solidFill>
                <a:latin typeface="Cambria"/>
                <a:cs typeface="Cambria"/>
              </a:rPr>
              <a:t>Engineering) </a:t>
            </a:r>
            <a:r>
              <a:rPr dirty="0" sz="1800" b="1">
                <a:solidFill>
                  <a:srgbClr val="4F81BA"/>
                </a:solidFill>
                <a:latin typeface="Cambria"/>
                <a:cs typeface="Cambria"/>
              </a:rPr>
              <a:t>Name</a:t>
            </a:r>
            <a:r>
              <a:rPr dirty="0" sz="1800" spc="-105" b="1">
                <a:solidFill>
                  <a:srgbClr val="4F81BA"/>
                </a:solidFill>
                <a:latin typeface="Cambria"/>
                <a:cs typeface="Cambria"/>
              </a:rPr>
              <a:t> </a:t>
            </a:r>
            <a:r>
              <a:rPr dirty="0" sz="1800" b="1">
                <a:solidFill>
                  <a:srgbClr val="4F81BA"/>
                </a:solidFill>
                <a:latin typeface="Cambria"/>
                <a:cs typeface="Cambria"/>
              </a:rPr>
              <a:t>of</a:t>
            </a:r>
            <a:r>
              <a:rPr dirty="0" sz="1800" spc="-80" b="1">
                <a:solidFill>
                  <a:srgbClr val="4F81BA"/>
                </a:solidFill>
                <a:latin typeface="Cambria"/>
                <a:cs typeface="Cambria"/>
              </a:rPr>
              <a:t> </a:t>
            </a:r>
            <a:r>
              <a:rPr dirty="0" sz="1800" b="1">
                <a:solidFill>
                  <a:srgbClr val="4F81BA"/>
                </a:solidFill>
                <a:latin typeface="Cambria"/>
                <a:cs typeface="Cambria"/>
              </a:rPr>
              <a:t>the</a:t>
            </a:r>
            <a:r>
              <a:rPr dirty="0" sz="1800" spc="-10" b="1">
                <a:solidFill>
                  <a:srgbClr val="4F81BA"/>
                </a:solidFill>
                <a:latin typeface="Cambria"/>
                <a:cs typeface="Cambria"/>
              </a:rPr>
              <a:t> </a:t>
            </a:r>
            <a:r>
              <a:rPr dirty="0" sz="1800" b="1">
                <a:solidFill>
                  <a:srgbClr val="4F81BA"/>
                </a:solidFill>
                <a:latin typeface="Cambria"/>
                <a:cs typeface="Cambria"/>
              </a:rPr>
              <a:t>HoD:</a:t>
            </a:r>
            <a:r>
              <a:rPr dirty="0" sz="1800" spc="-15" b="1">
                <a:solidFill>
                  <a:srgbClr val="4F81BA"/>
                </a:solidFill>
                <a:latin typeface="Cambria"/>
                <a:cs typeface="Cambria"/>
              </a:rPr>
              <a:t> </a:t>
            </a:r>
            <a:r>
              <a:rPr dirty="0" sz="1800" b="1">
                <a:solidFill>
                  <a:srgbClr val="F79346"/>
                </a:solidFill>
                <a:latin typeface="Cambria"/>
                <a:cs typeface="Cambria"/>
              </a:rPr>
              <a:t>Dr.</a:t>
            </a:r>
            <a:r>
              <a:rPr dirty="0" sz="1800" spc="-40" b="1">
                <a:solidFill>
                  <a:srgbClr val="F79346"/>
                </a:solidFill>
                <a:latin typeface="Cambria"/>
                <a:cs typeface="Cambria"/>
              </a:rPr>
              <a:t> </a:t>
            </a:r>
            <a:r>
              <a:rPr dirty="0" sz="1800" spc="-30" b="1">
                <a:solidFill>
                  <a:srgbClr val="F79346"/>
                </a:solidFill>
                <a:latin typeface="Cambria"/>
                <a:cs typeface="Cambria"/>
              </a:rPr>
              <a:t>Blessed</a:t>
            </a:r>
            <a:r>
              <a:rPr dirty="0" sz="1800" spc="-50" b="1">
                <a:solidFill>
                  <a:srgbClr val="F79346"/>
                </a:solidFill>
                <a:latin typeface="Cambria"/>
                <a:cs typeface="Cambria"/>
              </a:rPr>
              <a:t> </a:t>
            </a:r>
            <a:r>
              <a:rPr dirty="0" sz="1800" spc="-10" b="1">
                <a:solidFill>
                  <a:srgbClr val="F79346"/>
                </a:solidFill>
                <a:latin typeface="Cambria"/>
                <a:cs typeface="Cambria"/>
              </a:rPr>
              <a:t>Prince</a:t>
            </a:r>
            <a:endParaRPr sz="18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315"/>
              </a:spcBef>
            </a:pPr>
            <a:r>
              <a:rPr dirty="0" sz="1800" b="1">
                <a:solidFill>
                  <a:srgbClr val="4F81BA"/>
                </a:solidFill>
                <a:latin typeface="Cambria"/>
                <a:cs typeface="Cambria"/>
              </a:rPr>
              <a:t>Name</a:t>
            </a:r>
            <a:r>
              <a:rPr dirty="0" sz="1800" spc="-125" b="1">
                <a:solidFill>
                  <a:srgbClr val="4F81BA"/>
                </a:solidFill>
                <a:latin typeface="Cambria"/>
                <a:cs typeface="Cambria"/>
              </a:rPr>
              <a:t> </a:t>
            </a:r>
            <a:r>
              <a:rPr dirty="0" sz="1800" b="1">
                <a:solidFill>
                  <a:srgbClr val="4F81BA"/>
                </a:solidFill>
                <a:latin typeface="Cambria"/>
                <a:cs typeface="Cambria"/>
              </a:rPr>
              <a:t>of</a:t>
            </a:r>
            <a:r>
              <a:rPr dirty="0" sz="1800" spc="-100" b="1">
                <a:solidFill>
                  <a:srgbClr val="4F81BA"/>
                </a:solidFill>
                <a:latin typeface="Cambria"/>
                <a:cs typeface="Cambria"/>
              </a:rPr>
              <a:t> </a:t>
            </a:r>
            <a:r>
              <a:rPr dirty="0" sz="1800" b="1">
                <a:solidFill>
                  <a:srgbClr val="4F81BA"/>
                </a:solidFill>
                <a:latin typeface="Cambria"/>
                <a:cs typeface="Cambria"/>
              </a:rPr>
              <a:t>the</a:t>
            </a:r>
            <a:r>
              <a:rPr dirty="0" sz="1800" spc="-35" b="1">
                <a:solidFill>
                  <a:srgbClr val="4F81BA"/>
                </a:solidFill>
                <a:latin typeface="Cambria"/>
                <a:cs typeface="Cambria"/>
              </a:rPr>
              <a:t> </a:t>
            </a:r>
            <a:r>
              <a:rPr dirty="0" sz="1800" b="1">
                <a:solidFill>
                  <a:srgbClr val="4F81BA"/>
                </a:solidFill>
                <a:latin typeface="Cambria"/>
                <a:cs typeface="Cambria"/>
              </a:rPr>
              <a:t>Program</a:t>
            </a:r>
            <a:r>
              <a:rPr dirty="0" sz="1800" spc="-70" b="1">
                <a:solidFill>
                  <a:srgbClr val="4F81BA"/>
                </a:solidFill>
                <a:latin typeface="Cambria"/>
                <a:cs typeface="Cambria"/>
              </a:rPr>
              <a:t> </a:t>
            </a:r>
            <a:r>
              <a:rPr dirty="0" sz="1800" b="1">
                <a:solidFill>
                  <a:srgbClr val="4F81BA"/>
                </a:solidFill>
                <a:latin typeface="Cambria"/>
                <a:cs typeface="Cambria"/>
              </a:rPr>
              <a:t>Project</a:t>
            </a:r>
            <a:r>
              <a:rPr dirty="0" sz="1800" spc="-60" b="1">
                <a:solidFill>
                  <a:srgbClr val="4F81BA"/>
                </a:solidFill>
                <a:latin typeface="Cambria"/>
                <a:cs typeface="Cambria"/>
              </a:rPr>
              <a:t> </a:t>
            </a:r>
            <a:r>
              <a:rPr dirty="0" sz="1800" spc="-20" b="1">
                <a:solidFill>
                  <a:srgbClr val="4F81BA"/>
                </a:solidFill>
                <a:latin typeface="Cambria"/>
                <a:cs typeface="Cambria"/>
              </a:rPr>
              <a:t>Coordinator:</a:t>
            </a:r>
            <a:r>
              <a:rPr dirty="0" sz="1800" spc="-35" b="1">
                <a:solidFill>
                  <a:srgbClr val="4F81BA"/>
                </a:solidFill>
                <a:latin typeface="Cambria"/>
                <a:cs typeface="Cambria"/>
              </a:rPr>
              <a:t> </a:t>
            </a:r>
            <a:r>
              <a:rPr dirty="0" sz="1800" b="1">
                <a:solidFill>
                  <a:srgbClr val="F79346"/>
                </a:solidFill>
                <a:latin typeface="Cambria"/>
                <a:cs typeface="Cambria"/>
              </a:rPr>
              <a:t>Dr.</a:t>
            </a:r>
            <a:r>
              <a:rPr dirty="0" sz="1800" spc="-75" b="1">
                <a:solidFill>
                  <a:srgbClr val="F79346"/>
                </a:solidFill>
                <a:latin typeface="Cambria"/>
                <a:cs typeface="Cambria"/>
              </a:rPr>
              <a:t> </a:t>
            </a:r>
            <a:r>
              <a:rPr dirty="0" sz="1800" spc="-10" b="1">
                <a:solidFill>
                  <a:srgbClr val="F79346"/>
                </a:solidFill>
                <a:latin typeface="Cambria"/>
                <a:cs typeface="Cambria"/>
              </a:rPr>
              <a:t>Muthuraj</a:t>
            </a:r>
            <a:endParaRPr sz="18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 sz="1800" b="1">
                <a:solidFill>
                  <a:srgbClr val="4F81BA"/>
                </a:solidFill>
                <a:latin typeface="Cambria"/>
                <a:cs typeface="Cambria"/>
              </a:rPr>
              <a:t>Name</a:t>
            </a:r>
            <a:r>
              <a:rPr dirty="0" sz="1800" spc="-135" b="1">
                <a:solidFill>
                  <a:srgbClr val="4F81BA"/>
                </a:solidFill>
                <a:latin typeface="Cambria"/>
                <a:cs typeface="Cambria"/>
              </a:rPr>
              <a:t> </a:t>
            </a:r>
            <a:r>
              <a:rPr dirty="0" sz="1800" b="1">
                <a:solidFill>
                  <a:srgbClr val="4F81BA"/>
                </a:solidFill>
                <a:latin typeface="Cambria"/>
                <a:cs typeface="Cambria"/>
              </a:rPr>
              <a:t>of</a:t>
            </a:r>
            <a:r>
              <a:rPr dirty="0" sz="1800" spc="-100" b="1">
                <a:solidFill>
                  <a:srgbClr val="4F81BA"/>
                </a:solidFill>
                <a:latin typeface="Cambria"/>
                <a:cs typeface="Cambria"/>
              </a:rPr>
              <a:t> </a:t>
            </a:r>
            <a:r>
              <a:rPr dirty="0" sz="1800" b="1">
                <a:solidFill>
                  <a:srgbClr val="4F81BA"/>
                </a:solidFill>
                <a:latin typeface="Cambria"/>
                <a:cs typeface="Cambria"/>
              </a:rPr>
              <a:t>the</a:t>
            </a:r>
            <a:r>
              <a:rPr dirty="0" sz="1800" spc="-50" b="1">
                <a:solidFill>
                  <a:srgbClr val="4F81BA"/>
                </a:solidFill>
                <a:latin typeface="Cambria"/>
                <a:cs typeface="Cambria"/>
              </a:rPr>
              <a:t> </a:t>
            </a:r>
            <a:r>
              <a:rPr dirty="0" sz="1800" b="1">
                <a:solidFill>
                  <a:srgbClr val="4F81BA"/>
                </a:solidFill>
                <a:latin typeface="Cambria"/>
                <a:cs typeface="Cambria"/>
              </a:rPr>
              <a:t>School</a:t>
            </a:r>
            <a:r>
              <a:rPr dirty="0" sz="1800" spc="5" b="1">
                <a:solidFill>
                  <a:srgbClr val="4F81BA"/>
                </a:solidFill>
                <a:latin typeface="Cambria"/>
                <a:cs typeface="Cambria"/>
              </a:rPr>
              <a:t> </a:t>
            </a:r>
            <a:r>
              <a:rPr dirty="0" sz="1800" spc="-10" b="1">
                <a:solidFill>
                  <a:srgbClr val="4F81BA"/>
                </a:solidFill>
                <a:latin typeface="Cambria"/>
                <a:cs typeface="Cambria"/>
              </a:rPr>
              <a:t>Project</a:t>
            </a:r>
            <a:r>
              <a:rPr dirty="0" sz="1800" spc="-65" b="1">
                <a:solidFill>
                  <a:srgbClr val="4F81BA"/>
                </a:solidFill>
                <a:latin typeface="Cambria"/>
                <a:cs typeface="Cambria"/>
              </a:rPr>
              <a:t> </a:t>
            </a:r>
            <a:r>
              <a:rPr dirty="0" sz="1800" b="1">
                <a:solidFill>
                  <a:srgbClr val="4F81BA"/>
                </a:solidFill>
                <a:latin typeface="Cambria"/>
                <a:cs typeface="Cambria"/>
              </a:rPr>
              <a:t>Coordinators:</a:t>
            </a:r>
            <a:r>
              <a:rPr dirty="0" sz="1800" spc="-10" b="1">
                <a:solidFill>
                  <a:srgbClr val="4F81BA"/>
                </a:solidFill>
                <a:latin typeface="Cambria"/>
                <a:cs typeface="Cambria"/>
              </a:rPr>
              <a:t> </a:t>
            </a:r>
            <a:r>
              <a:rPr dirty="0" sz="1800" b="1">
                <a:latin typeface="Cambria"/>
                <a:cs typeface="Cambria"/>
              </a:rPr>
              <a:t>Dr.</a:t>
            </a:r>
            <a:r>
              <a:rPr dirty="0" sz="1800" spc="-60" b="1">
                <a:latin typeface="Cambria"/>
                <a:cs typeface="Cambria"/>
              </a:rPr>
              <a:t> </a:t>
            </a:r>
            <a:r>
              <a:rPr dirty="0" sz="1800" b="1">
                <a:latin typeface="Cambria"/>
                <a:cs typeface="Cambria"/>
              </a:rPr>
              <a:t>Sampath</a:t>
            </a:r>
            <a:r>
              <a:rPr dirty="0" sz="1800" spc="-65" b="1">
                <a:latin typeface="Cambria"/>
                <a:cs typeface="Cambria"/>
              </a:rPr>
              <a:t> </a:t>
            </a:r>
            <a:r>
              <a:rPr dirty="0" sz="1800" b="1">
                <a:latin typeface="Cambria"/>
                <a:cs typeface="Cambria"/>
              </a:rPr>
              <a:t>A</a:t>
            </a:r>
            <a:r>
              <a:rPr dirty="0" sz="1800" spc="-35" b="1">
                <a:latin typeface="Cambria"/>
                <a:cs typeface="Cambria"/>
              </a:rPr>
              <a:t> </a:t>
            </a:r>
            <a:r>
              <a:rPr dirty="0" sz="1800" b="1">
                <a:latin typeface="Cambria"/>
                <a:cs typeface="Cambria"/>
              </a:rPr>
              <a:t>K ,</a:t>
            </a:r>
            <a:r>
              <a:rPr dirty="0" sz="1800" spc="-110" b="1">
                <a:latin typeface="Cambria"/>
                <a:cs typeface="Cambria"/>
              </a:rPr>
              <a:t> </a:t>
            </a:r>
            <a:r>
              <a:rPr dirty="0" sz="1800" b="1">
                <a:latin typeface="Cambria"/>
                <a:cs typeface="Cambria"/>
              </a:rPr>
              <a:t>Dr.</a:t>
            </a:r>
            <a:r>
              <a:rPr dirty="0" sz="1800" spc="-60" b="1">
                <a:latin typeface="Cambria"/>
                <a:cs typeface="Cambria"/>
              </a:rPr>
              <a:t> </a:t>
            </a:r>
            <a:r>
              <a:rPr dirty="0" sz="1800" b="1">
                <a:latin typeface="Cambria"/>
                <a:cs typeface="Cambria"/>
              </a:rPr>
              <a:t>Geetha</a:t>
            </a:r>
            <a:r>
              <a:rPr dirty="0" sz="1800" spc="-30" b="1">
                <a:latin typeface="Cambria"/>
                <a:cs typeface="Cambria"/>
              </a:rPr>
              <a:t> </a:t>
            </a:r>
            <a:r>
              <a:rPr dirty="0" sz="1800" spc="-50" b="1">
                <a:latin typeface="Cambria"/>
                <a:cs typeface="Cambria"/>
              </a:rPr>
              <a:t>A</a:t>
            </a:r>
            <a:endParaRPr sz="1800">
              <a:latin typeface="Cambria"/>
              <a:cs typeface="Cambria"/>
            </a:endParaRPr>
          </a:p>
        </p:txBody>
      </p:sp>
      <p:graphicFrame>
        <p:nvGraphicFramePr>
          <p:cNvPr id="5" name="object 5" descr=""/>
          <p:cNvGraphicFramePr>
            <a:graphicFrameLocks noGrp="1"/>
          </p:cNvGraphicFramePr>
          <p:nvPr/>
        </p:nvGraphicFramePr>
        <p:xfrm>
          <a:off x="0" y="2578607"/>
          <a:ext cx="6506209" cy="193230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211830"/>
                <a:gridCol w="3211830"/>
              </a:tblGrid>
              <a:tr h="482600">
                <a:tc>
                  <a:txBody>
                    <a:bodyPr/>
                    <a:lstStyle/>
                    <a:p>
                      <a:pPr marL="594360">
                        <a:lnSpc>
                          <a:spcPct val="100000"/>
                        </a:lnSpc>
                        <a:spcBef>
                          <a:spcPts val="1205"/>
                        </a:spcBef>
                      </a:pPr>
                      <a:r>
                        <a:rPr dirty="0" sz="1800" spc="55" b="1">
                          <a:solidFill>
                            <a:srgbClr val="17365D"/>
                          </a:solidFill>
                          <a:latin typeface="Cambria"/>
                          <a:cs typeface="Cambria"/>
                        </a:rPr>
                        <a:t>Roll</a:t>
                      </a:r>
                      <a:r>
                        <a:rPr dirty="0" sz="1800" spc="375" b="1">
                          <a:solidFill>
                            <a:srgbClr val="17365D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800" spc="-10" b="1">
                          <a:solidFill>
                            <a:srgbClr val="17365D"/>
                          </a:solidFill>
                          <a:latin typeface="Cambria"/>
                          <a:cs typeface="Cambria"/>
                        </a:rPr>
                        <a:t>Number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B="0" marT="15303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32410">
                        <a:lnSpc>
                          <a:spcPct val="100000"/>
                        </a:lnSpc>
                        <a:spcBef>
                          <a:spcPts val="1205"/>
                        </a:spcBef>
                        <a:tabLst>
                          <a:tab pos="1253490" algn="l"/>
                        </a:tabLst>
                      </a:pPr>
                      <a:r>
                        <a:rPr dirty="0" sz="1800" spc="70" b="1">
                          <a:solidFill>
                            <a:srgbClr val="17365D"/>
                          </a:solidFill>
                          <a:latin typeface="Cambria"/>
                          <a:cs typeface="Cambria"/>
                        </a:rPr>
                        <a:t>Student</a:t>
                      </a:r>
                      <a:r>
                        <a:rPr dirty="0" sz="1800" b="1">
                          <a:solidFill>
                            <a:srgbClr val="17365D"/>
                          </a:solidFill>
                          <a:latin typeface="Cambria"/>
                          <a:cs typeface="Cambria"/>
                        </a:rPr>
                        <a:t>	</a:t>
                      </a:r>
                      <a:r>
                        <a:rPr dirty="0" sz="1800" spc="-20" b="1">
                          <a:solidFill>
                            <a:srgbClr val="17365D"/>
                          </a:solidFill>
                          <a:latin typeface="Cambria"/>
                          <a:cs typeface="Cambria"/>
                        </a:rPr>
                        <a:t>Name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B="0" marT="15303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8387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1400" spc="45">
                          <a:latin typeface="Arial MT"/>
                          <a:cs typeface="Arial MT"/>
                        </a:rPr>
                        <a:t>20221CSE0281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B="0" marT="4000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1550">
                          <a:latin typeface="Georgia"/>
                          <a:cs typeface="Georgia"/>
                        </a:rPr>
                        <a:t>M</a:t>
                      </a:r>
                      <a:r>
                        <a:rPr dirty="0" sz="1550" spc="170">
                          <a:latin typeface="Georgia"/>
                          <a:cs typeface="Georgia"/>
                        </a:rPr>
                        <a:t> </a:t>
                      </a:r>
                      <a:r>
                        <a:rPr dirty="0" sz="1550" spc="40">
                          <a:latin typeface="Georgia"/>
                          <a:cs typeface="Georgia"/>
                        </a:rPr>
                        <a:t>Sidhardha</a:t>
                      </a:r>
                      <a:endParaRPr sz="1550">
                        <a:latin typeface="Georgia"/>
                        <a:cs typeface="Georgia"/>
                      </a:endParaRPr>
                    </a:p>
                  </a:txBody>
                  <a:tcPr marL="0" marR="0" marB="0" marT="4000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83234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dirty="0" sz="1400" spc="-10">
                          <a:latin typeface="Arial MT"/>
                          <a:cs typeface="Arial MT"/>
                        </a:rPr>
                        <a:t>20221CSE0259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B="0" marT="4191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dirty="0" sz="1400">
                          <a:latin typeface="Arial MT"/>
                          <a:cs typeface="Arial MT"/>
                        </a:rPr>
                        <a:t>P</a:t>
                      </a:r>
                      <a:r>
                        <a:rPr dirty="0" sz="1400" spc="-7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400">
                          <a:latin typeface="Arial MT"/>
                          <a:cs typeface="Arial MT"/>
                        </a:rPr>
                        <a:t>Sasi</a:t>
                      </a:r>
                      <a:r>
                        <a:rPr dirty="0" sz="1400" spc="-7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400" spc="-10">
                          <a:latin typeface="Arial MT"/>
                          <a:cs typeface="Arial MT"/>
                        </a:rPr>
                        <a:t>Kumar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B="0" marT="4191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8260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dirty="0" sz="1400" spc="-10">
                          <a:latin typeface="Arial MT"/>
                          <a:cs typeface="Arial MT"/>
                        </a:rPr>
                        <a:t>20221CSE0282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B="0" marT="4381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dirty="0" sz="1400">
                          <a:latin typeface="Arial MT"/>
                          <a:cs typeface="Arial MT"/>
                        </a:rPr>
                        <a:t>T</a:t>
                      </a:r>
                      <a:r>
                        <a:rPr dirty="0" sz="1400" spc="-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400" spc="-10">
                          <a:latin typeface="Arial MT"/>
                          <a:cs typeface="Arial MT"/>
                        </a:rPr>
                        <a:t>Sree</a:t>
                      </a:r>
                      <a:r>
                        <a:rPr dirty="0" sz="1400" spc="-7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400" spc="-10">
                          <a:latin typeface="Arial MT"/>
                          <a:cs typeface="Arial MT"/>
                        </a:rPr>
                        <a:t>Vardhan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B="0" marT="4381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6" name="object 6" descr=""/>
          <p:cNvSpPr txBox="1"/>
          <p:nvPr/>
        </p:nvSpPr>
        <p:spPr>
          <a:xfrm>
            <a:off x="4165600" y="58737"/>
            <a:ext cx="2821305" cy="655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937894" marR="5080" indent="-925194">
              <a:lnSpc>
                <a:spcPct val="114700"/>
              </a:lnSpc>
              <a:spcBef>
                <a:spcPts val="100"/>
              </a:spcBef>
            </a:pPr>
            <a:r>
              <a:rPr dirty="0" sz="1800" b="1">
                <a:solidFill>
                  <a:srgbClr val="17365D"/>
                </a:solidFill>
                <a:latin typeface="Cambria"/>
                <a:cs typeface="Cambria"/>
              </a:rPr>
              <a:t>CSE7101-</a:t>
            </a:r>
            <a:r>
              <a:rPr dirty="0" sz="1800" spc="-45" b="1">
                <a:solidFill>
                  <a:srgbClr val="17365D"/>
                </a:solidFill>
                <a:latin typeface="Cambria"/>
                <a:cs typeface="Cambria"/>
              </a:rPr>
              <a:t> </a:t>
            </a:r>
            <a:r>
              <a:rPr dirty="0" sz="1800" spc="-20" b="1">
                <a:solidFill>
                  <a:srgbClr val="17365D"/>
                </a:solidFill>
                <a:latin typeface="Cambria"/>
                <a:cs typeface="Cambria"/>
              </a:rPr>
              <a:t>Capstone</a:t>
            </a:r>
            <a:r>
              <a:rPr dirty="0" sz="1800" spc="-65" b="1">
                <a:solidFill>
                  <a:srgbClr val="17365D"/>
                </a:solidFill>
                <a:latin typeface="Cambria"/>
                <a:cs typeface="Cambria"/>
              </a:rPr>
              <a:t> </a:t>
            </a:r>
            <a:r>
              <a:rPr dirty="0" sz="1800" spc="-10" b="1">
                <a:solidFill>
                  <a:srgbClr val="17365D"/>
                </a:solidFill>
                <a:latin typeface="Cambria"/>
                <a:cs typeface="Cambria"/>
              </a:rPr>
              <a:t>Project </a:t>
            </a:r>
            <a:r>
              <a:rPr dirty="0" sz="1800" spc="-40" b="1">
                <a:solidFill>
                  <a:srgbClr val="17365D"/>
                </a:solidFill>
                <a:latin typeface="Cambria"/>
                <a:cs typeface="Cambria"/>
              </a:rPr>
              <a:t>Review-</a:t>
            </a:r>
            <a:r>
              <a:rPr dirty="0" sz="1800" spc="-50" b="1">
                <a:solidFill>
                  <a:srgbClr val="17365D"/>
                </a:solidFill>
                <a:latin typeface="Cambria"/>
                <a:cs typeface="Cambria"/>
              </a:rPr>
              <a:t>1</a:t>
            </a:r>
            <a:endParaRPr sz="18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93444" y="272097"/>
            <a:ext cx="5504180" cy="39179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/>
              <a:t>Problem</a:t>
            </a:r>
            <a:r>
              <a:rPr dirty="0" sz="2400" spc="-45"/>
              <a:t> </a:t>
            </a:r>
            <a:r>
              <a:rPr dirty="0" sz="2400"/>
              <a:t>Statement</a:t>
            </a:r>
            <a:r>
              <a:rPr dirty="0" sz="2400" spc="25"/>
              <a:t> </a:t>
            </a:r>
            <a:r>
              <a:rPr dirty="0" sz="2400"/>
              <a:t>Number: </a:t>
            </a:r>
            <a:r>
              <a:rPr dirty="0" sz="2400" spc="-10"/>
              <a:t>SIH25031</a:t>
            </a:r>
            <a:endParaRPr sz="2400"/>
          </a:p>
        </p:txBody>
      </p:sp>
      <p:sp>
        <p:nvSpPr>
          <p:cNvPr id="3" name="object 3" descr=""/>
          <p:cNvSpPr txBox="1"/>
          <p:nvPr/>
        </p:nvSpPr>
        <p:spPr>
          <a:xfrm>
            <a:off x="1046797" y="853884"/>
            <a:ext cx="4321810" cy="1026794"/>
          </a:xfrm>
          <a:prstGeom prst="rect">
            <a:avLst/>
          </a:prstGeom>
        </p:spPr>
        <p:txBody>
          <a:bodyPr wrap="square" lIns="0" tIns="1225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65"/>
              </a:spcBef>
            </a:pPr>
            <a:r>
              <a:rPr dirty="0" sz="1400" spc="-35" b="1">
                <a:latin typeface="Verdana"/>
                <a:cs typeface="Verdana"/>
              </a:rPr>
              <a:t>Organization</a:t>
            </a:r>
            <a:r>
              <a:rPr dirty="0" sz="1400" spc="-204" b="1">
                <a:latin typeface="Verdana"/>
                <a:cs typeface="Verdana"/>
              </a:rPr>
              <a:t> </a:t>
            </a:r>
            <a:r>
              <a:rPr dirty="0" sz="1250">
                <a:latin typeface="Cambria"/>
                <a:cs typeface="Cambria"/>
              </a:rPr>
              <a:t>:</a:t>
            </a:r>
            <a:r>
              <a:rPr dirty="0" sz="1400">
                <a:latin typeface="Verdana"/>
                <a:cs typeface="Verdana"/>
              </a:rPr>
              <a:t>Government Of</a:t>
            </a:r>
            <a:r>
              <a:rPr dirty="0" sz="1400" spc="-5">
                <a:latin typeface="Verdana"/>
                <a:cs typeface="Verdana"/>
              </a:rPr>
              <a:t> </a:t>
            </a:r>
            <a:r>
              <a:rPr dirty="0" sz="1400" spc="-10">
                <a:latin typeface="Verdana"/>
                <a:cs typeface="Verdana"/>
              </a:rPr>
              <a:t>Jharkhand</a:t>
            </a:r>
            <a:endParaRPr sz="14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869"/>
              </a:spcBef>
            </a:pPr>
            <a:r>
              <a:rPr dirty="0" sz="1400" spc="-10" b="1">
                <a:latin typeface="Verdana"/>
                <a:cs typeface="Verdana"/>
              </a:rPr>
              <a:t>Category</a:t>
            </a:r>
            <a:r>
              <a:rPr dirty="0" sz="1250" spc="-10">
                <a:latin typeface="Cambria"/>
                <a:cs typeface="Cambria"/>
              </a:rPr>
              <a:t>:</a:t>
            </a:r>
            <a:r>
              <a:rPr dirty="0" sz="1250" spc="-45">
                <a:latin typeface="Cambria"/>
                <a:cs typeface="Cambria"/>
              </a:rPr>
              <a:t> </a:t>
            </a:r>
            <a:r>
              <a:rPr dirty="0" sz="1400" spc="-10">
                <a:latin typeface="Verdana"/>
                <a:cs typeface="Verdana"/>
              </a:rPr>
              <a:t>Software</a:t>
            </a:r>
            <a:endParaRPr sz="14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100"/>
              </a:spcBef>
            </a:pPr>
            <a:r>
              <a:rPr dirty="0" sz="1400" b="1">
                <a:latin typeface="Verdana"/>
                <a:cs typeface="Verdana"/>
              </a:rPr>
              <a:t>Problem</a:t>
            </a:r>
            <a:r>
              <a:rPr dirty="0" sz="1400" spc="-135" b="1">
                <a:latin typeface="Verdana"/>
                <a:cs typeface="Verdana"/>
              </a:rPr>
              <a:t> </a:t>
            </a:r>
            <a:r>
              <a:rPr dirty="0" sz="1400" b="1">
                <a:latin typeface="Verdana"/>
                <a:cs typeface="Verdana"/>
              </a:rPr>
              <a:t>Description</a:t>
            </a:r>
            <a:r>
              <a:rPr dirty="0" sz="1400" spc="-40" b="1">
                <a:latin typeface="Verdana"/>
                <a:cs typeface="Verdana"/>
              </a:rPr>
              <a:t> </a:t>
            </a:r>
            <a:r>
              <a:rPr dirty="0" sz="1250">
                <a:latin typeface="Cambria"/>
                <a:cs typeface="Cambria"/>
              </a:rPr>
              <a:t>:</a:t>
            </a:r>
            <a:r>
              <a:rPr dirty="0" sz="1400">
                <a:latin typeface="Cambria"/>
                <a:cs typeface="Cambria"/>
              </a:rPr>
              <a:t>Clean</a:t>
            </a:r>
            <a:r>
              <a:rPr dirty="0" sz="1400" spc="-15">
                <a:latin typeface="Cambria"/>
                <a:cs typeface="Cambria"/>
              </a:rPr>
              <a:t> </a:t>
            </a:r>
            <a:r>
              <a:rPr dirty="0" sz="1400">
                <a:latin typeface="Cambria"/>
                <a:cs typeface="Cambria"/>
              </a:rPr>
              <a:t>and</a:t>
            </a:r>
            <a:r>
              <a:rPr dirty="0" sz="1400" spc="-10">
                <a:latin typeface="Cambria"/>
                <a:cs typeface="Cambria"/>
              </a:rPr>
              <a:t> </a:t>
            </a:r>
            <a:r>
              <a:rPr dirty="0" sz="1400">
                <a:latin typeface="Cambria"/>
                <a:cs typeface="Cambria"/>
              </a:rPr>
              <a:t>Green</a:t>
            </a:r>
            <a:r>
              <a:rPr dirty="0" sz="1400" spc="-15">
                <a:latin typeface="Cambria"/>
                <a:cs typeface="Cambria"/>
              </a:rPr>
              <a:t> </a:t>
            </a:r>
            <a:r>
              <a:rPr dirty="0" sz="1400" spc="-10">
                <a:latin typeface="Cambria"/>
                <a:cs typeface="Cambria"/>
              </a:rPr>
              <a:t>Technology</a:t>
            </a:r>
            <a:endParaRPr sz="14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29209">
              <a:lnSpc>
                <a:spcPct val="100000"/>
              </a:lnSpc>
              <a:spcBef>
                <a:spcPts val="125"/>
              </a:spcBef>
            </a:pPr>
            <a:r>
              <a:rPr dirty="0"/>
              <a:t>Objectives</a:t>
            </a:r>
            <a:r>
              <a:rPr dirty="0" spc="-40"/>
              <a:t> </a:t>
            </a:r>
            <a:r>
              <a:rPr dirty="0" spc="-50"/>
              <a:t>: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17575" y="1006157"/>
            <a:ext cx="9295765" cy="33204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65100" indent="-158750">
              <a:lnSpc>
                <a:spcPts val="2865"/>
              </a:lnSpc>
              <a:spcBef>
                <a:spcPts val="100"/>
              </a:spcBef>
              <a:buSzPct val="95833"/>
              <a:buChar char="•"/>
              <a:tabLst>
                <a:tab pos="165100" algn="l"/>
              </a:tabLst>
            </a:pPr>
            <a:r>
              <a:rPr dirty="0" sz="2400">
                <a:latin typeface="Calibri"/>
                <a:cs typeface="Calibri"/>
              </a:rPr>
              <a:t>To</a:t>
            </a:r>
            <a:r>
              <a:rPr dirty="0" sz="2400" spc="-6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provide</a:t>
            </a:r>
            <a:r>
              <a:rPr dirty="0" sz="2400" spc="-6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</a:t>
            </a:r>
            <a:r>
              <a:rPr dirty="0" sz="2400" spc="-2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user-</a:t>
            </a:r>
            <a:r>
              <a:rPr dirty="0" sz="2400">
                <a:latin typeface="Calibri"/>
                <a:cs typeface="Calibri"/>
              </a:rPr>
              <a:t>friendly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platform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for</a:t>
            </a:r>
            <a:r>
              <a:rPr dirty="0" sz="2400" spc="-1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citizens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to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report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civic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issues</a:t>
            </a:r>
            <a:r>
              <a:rPr dirty="0" sz="2400" spc="-10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easily</a:t>
            </a:r>
            <a:endParaRPr sz="2400">
              <a:latin typeface="Calibri"/>
              <a:cs typeface="Calibri"/>
            </a:endParaRPr>
          </a:p>
          <a:p>
            <a:pPr marL="164465" indent="-158750">
              <a:lnSpc>
                <a:spcPts val="2865"/>
              </a:lnSpc>
              <a:buSzPct val="95833"/>
              <a:buChar char="•"/>
              <a:tabLst>
                <a:tab pos="164465" algn="l"/>
              </a:tabLst>
            </a:pPr>
            <a:r>
              <a:rPr dirty="0" sz="2400">
                <a:latin typeface="Calibri"/>
                <a:cs typeface="Calibri"/>
              </a:rPr>
              <a:t>To</a:t>
            </a:r>
            <a:r>
              <a:rPr dirty="0" sz="2400" spc="-6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enable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quick</a:t>
            </a:r>
            <a:r>
              <a:rPr dirty="0" sz="2400" spc="-10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identification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and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documentation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of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local</a:t>
            </a:r>
            <a:r>
              <a:rPr dirty="0" sz="2400" spc="-2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problems</a:t>
            </a:r>
            <a:endParaRPr sz="2400">
              <a:latin typeface="Calibri"/>
              <a:cs typeface="Calibri"/>
            </a:endParaRPr>
          </a:p>
          <a:p>
            <a:pPr marL="165100" indent="-158750">
              <a:lnSpc>
                <a:spcPts val="2865"/>
              </a:lnSpc>
              <a:spcBef>
                <a:spcPts val="50"/>
              </a:spcBef>
              <a:buSzPct val="95833"/>
              <a:buChar char="•"/>
              <a:tabLst>
                <a:tab pos="165100" algn="l"/>
              </a:tabLst>
            </a:pPr>
            <a:r>
              <a:rPr dirty="0" sz="2400">
                <a:latin typeface="Calibri"/>
                <a:cs typeface="Calibri"/>
              </a:rPr>
              <a:t>To</a:t>
            </a:r>
            <a:r>
              <a:rPr dirty="0" sz="2400" spc="-7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improve</a:t>
            </a:r>
            <a:r>
              <a:rPr dirty="0" sz="2400" spc="-7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communication</a:t>
            </a:r>
            <a:r>
              <a:rPr dirty="0" sz="2400" spc="-7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between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citizens</a:t>
            </a:r>
            <a:r>
              <a:rPr dirty="0" sz="2400" spc="-11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and</a:t>
            </a:r>
            <a:r>
              <a:rPr dirty="0" sz="2400" spc="-6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municipal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authorities</a:t>
            </a:r>
            <a:endParaRPr sz="2400">
              <a:latin typeface="Calibri"/>
              <a:cs typeface="Calibri"/>
            </a:endParaRPr>
          </a:p>
          <a:p>
            <a:pPr marL="12700" marR="200660" indent="-6350">
              <a:lnSpc>
                <a:spcPts val="2930"/>
              </a:lnSpc>
              <a:spcBef>
                <a:spcPts val="45"/>
              </a:spcBef>
              <a:buSzPct val="95833"/>
              <a:buChar char="•"/>
              <a:tabLst>
                <a:tab pos="165100" algn="l"/>
              </a:tabLst>
            </a:pPr>
            <a:r>
              <a:rPr dirty="0" sz="2400">
                <a:latin typeface="Calibri"/>
                <a:cs typeface="Calibri"/>
              </a:rPr>
              <a:t>	</a:t>
            </a:r>
            <a:r>
              <a:rPr dirty="0" sz="2400">
                <a:latin typeface="Calibri"/>
                <a:cs typeface="Calibri"/>
              </a:rPr>
              <a:t>To</a:t>
            </a:r>
            <a:r>
              <a:rPr dirty="0" sz="2400" spc="-6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ensure</a:t>
            </a:r>
            <a:r>
              <a:rPr dirty="0" sz="2400" spc="-6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transparency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by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allowing</a:t>
            </a:r>
            <a:r>
              <a:rPr dirty="0" sz="2400" spc="-1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users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to</a:t>
            </a:r>
            <a:r>
              <a:rPr dirty="0" sz="2400" spc="-6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track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-7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status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of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reported issues</a:t>
            </a:r>
            <a:endParaRPr sz="2400">
              <a:latin typeface="Calibri"/>
              <a:cs typeface="Calibri"/>
            </a:endParaRPr>
          </a:p>
          <a:p>
            <a:pPr marL="165100" indent="-158750">
              <a:lnSpc>
                <a:spcPts val="2735"/>
              </a:lnSpc>
              <a:buSzPct val="95833"/>
              <a:buChar char="•"/>
              <a:tabLst>
                <a:tab pos="165100" algn="l"/>
              </a:tabLst>
            </a:pPr>
            <a:r>
              <a:rPr dirty="0" sz="2400">
                <a:latin typeface="Calibri"/>
                <a:cs typeface="Calibri"/>
              </a:rPr>
              <a:t>To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prioritize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issues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based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on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urgency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and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public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impact</a:t>
            </a:r>
            <a:endParaRPr sz="2400">
              <a:latin typeface="Calibri"/>
              <a:cs typeface="Calibri"/>
            </a:endParaRPr>
          </a:p>
          <a:p>
            <a:pPr marL="164465" indent="-158750">
              <a:lnSpc>
                <a:spcPts val="2865"/>
              </a:lnSpc>
              <a:buSzPct val="95833"/>
              <a:buChar char="•"/>
              <a:tabLst>
                <a:tab pos="164465" algn="l"/>
              </a:tabLst>
            </a:pPr>
            <a:r>
              <a:rPr dirty="0" sz="2400">
                <a:latin typeface="Calibri"/>
                <a:cs typeface="Calibri"/>
              </a:rPr>
              <a:t>To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encourage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community</a:t>
            </a:r>
            <a:r>
              <a:rPr dirty="0" sz="2400" spc="-2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participation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in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civic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development</a:t>
            </a:r>
            <a:endParaRPr sz="2400">
              <a:latin typeface="Calibri"/>
              <a:cs typeface="Calibri"/>
            </a:endParaRPr>
          </a:p>
          <a:p>
            <a:pPr marL="165100" indent="-158750">
              <a:lnSpc>
                <a:spcPts val="2870"/>
              </a:lnSpc>
              <a:spcBef>
                <a:spcPts val="50"/>
              </a:spcBef>
              <a:buSzPct val="95833"/>
              <a:buChar char="•"/>
              <a:tabLst>
                <a:tab pos="165100" algn="l"/>
              </a:tabLst>
            </a:pPr>
            <a:r>
              <a:rPr dirty="0" sz="2400">
                <a:latin typeface="Calibri"/>
                <a:cs typeface="Calibri"/>
              </a:rPr>
              <a:t>To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support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faster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and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more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efficient</a:t>
            </a:r>
            <a:r>
              <a:rPr dirty="0" sz="2400" spc="-2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resolution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of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civic</a:t>
            </a:r>
            <a:r>
              <a:rPr dirty="0" sz="2400" spc="-8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problems</a:t>
            </a:r>
            <a:endParaRPr sz="2400">
              <a:latin typeface="Calibri"/>
              <a:cs typeface="Calibri"/>
            </a:endParaRPr>
          </a:p>
          <a:p>
            <a:pPr marL="165100" indent="-158750">
              <a:lnSpc>
                <a:spcPts val="2870"/>
              </a:lnSpc>
              <a:buSzPct val="95833"/>
              <a:buChar char="•"/>
              <a:tabLst>
                <a:tab pos="165100" algn="l"/>
              </a:tabLst>
            </a:pPr>
            <a:r>
              <a:rPr dirty="0" sz="2400">
                <a:latin typeface="Calibri"/>
                <a:cs typeface="Calibri"/>
              </a:rPr>
              <a:t>To</a:t>
            </a:r>
            <a:r>
              <a:rPr dirty="0" sz="2400" spc="-6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improve</a:t>
            </a:r>
            <a:r>
              <a:rPr dirty="0" sz="2400" spc="-6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overall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quality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of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public</a:t>
            </a:r>
            <a:r>
              <a:rPr dirty="0" sz="2400" spc="-11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services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and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urban</a:t>
            </a:r>
            <a:r>
              <a:rPr dirty="0" sz="2400" spc="-6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living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29209">
              <a:lnSpc>
                <a:spcPct val="100000"/>
              </a:lnSpc>
              <a:spcBef>
                <a:spcPts val="125"/>
              </a:spcBef>
            </a:pPr>
            <a:r>
              <a:rPr dirty="0"/>
              <a:t>Background</a:t>
            </a:r>
            <a:r>
              <a:rPr dirty="0" spc="-15"/>
              <a:t> </a:t>
            </a:r>
            <a:r>
              <a:rPr dirty="0"/>
              <a:t>and</a:t>
            </a:r>
            <a:r>
              <a:rPr dirty="0" spc="-45"/>
              <a:t> </a:t>
            </a:r>
            <a:r>
              <a:rPr dirty="0"/>
              <a:t>Related</a:t>
            </a:r>
            <a:r>
              <a:rPr dirty="0" spc="-35"/>
              <a:t> </a:t>
            </a:r>
            <a:r>
              <a:rPr dirty="0"/>
              <a:t>work</a:t>
            </a:r>
            <a:r>
              <a:rPr dirty="0" spc="30"/>
              <a:t> </a:t>
            </a:r>
            <a:r>
              <a:rPr dirty="0"/>
              <a:t>for</a:t>
            </a:r>
            <a:r>
              <a:rPr dirty="0" spc="75"/>
              <a:t> </a:t>
            </a:r>
            <a:r>
              <a:rPr dirty="0"/>
              <a:t>title</a:t>
            </a:r>
            <a:r>
              <a:rPr dirty="0" spc="-20"/>
              <a:t> </a:t>
            </a:r>
            <a:r>
              <a:rPr dirty="0" spc="-10"/>
              <a:t>Selection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56310" y="1215643"/>
            <a:ext cx="10232390" cy="39979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355600" marR="22860" indent="-343535">
              <a:lnSpc>
                <a:spcPct val="100000"/>
              </a:lnSpc>
              <a:spcBef>
                <a:spcPts val="130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2000">
                <a:latin typeface="Calibri"/>
                <a:cs typeface="Calibri"/>
              </a:rPr>
              <a:t>Rapid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urban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growth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has</a:t>
            </a:r>
            <a:r>
              <a:rPr dirty="0" sz="2000" spc="1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increased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number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of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civic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issues</a:t>
            </a:r>
            <a:r>
              <a:rPr dirty="0" sz="2000" spc="-6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such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as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potholes, </a:t>
            </a:r>
            <a:r>
              <a:rPr dirty="0" sz="2000" spc="-10">
                <a:latin typeface="Calibri"/>
                <a:cs typeface="Calibri"/>
              </a:rPr>
              <a:t>garbage </a:t>
            </a:r>
            <a:r>
              <a:rPr dirty="0" sz="2000">
                <a:latin typeface="Calibri"/>
                <a:cs typeface="Calibri"/>
              </a:rPr>
              <a:t>accumulation,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water</a:t>
            </a:r>
            <a:r>
              <a:rPr dirty="0" sz="2000" spc="-8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leakage,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and</a:t>
            </a:r>
            <a:r>
              <a:rPr dirty="0" sz="2000" spc="-6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malfunctioning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streetlights.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Traditional</a:t>
            </a:r>
            <a:r>
              <a:rPr dirty="0" sz="2000" spc="-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methods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of</a:t>
            </a:r>
            <a:r>
              <a:rPr dirty="0" sz="2000" spc="-7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reporting </a:t>
            </a:r>
            <a:r>
              <a:rPr dirty="0" sz="2000">
                <a:latin typeface="Calibri"/>
                <a:cs typeface="Calibri"/>
              </a:rPr>
              <a:t>these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problems are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mostly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manual,</a:t>
            </a:r>
            <a:r>
              <a:rPr dirty="0" sz="2000" spc="-8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slow,</a:t>
            </a:r>
            <a:r>
              <a:rPr dirty="0" sz="2000" spc="-1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and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lack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transparency,</a:t>
            </a:r>
            <a:r>
              <a:rPr dirty="0" sz="2000" spc="-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which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often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leads to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delays </a:t>
            </a:r>
            <a:r>
              <a:rPr dirty="0" sz="2000" spc="-25">
                <a:latin typeface="Calibri"/>
                <a:cs typeface="Calibri"/>
              </a:rPr>
              <a:t>in </a:t>
            </a:r>
            <a:r>
              <a:rPr dirty="0" sz="2000">
                <a:latin typeface="Calibri"/>
                <a:cs typeface="Calibri"/>
              </a:rPr>
              <a:t>resolution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and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reduced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public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trust.</a:t>
            </a:r>
            <a:r>
              <a:rPr dirty="0" sz="2000" spc="-1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With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widespread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use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of</a:t>
            </a:r>
            <a:r>
              <a:rPr dirty="0" sz="2000" spc="4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smartphones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and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internet </a:t>
            </a:r>
            <a:r>
              <a:rPr dirty="0" sz="2000">
                <a:latin typeface="Calibri"/>
                <a:cs typeface="Calibri"/>
              </a:rPr>
              <a:t>connectivity,</a:t>
            </a:r>
            <a:r>
              <a:rPr dirty="0" sz="2000" spc="-1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digital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platforms</a:t>
            </a:r>
            <a:r>
              <a:rPr dirty="0" sz="2000" spc="-6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offer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better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way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for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citizens</a:t>
            </a:r>
            <a:r>
              <a:rPr dirty="0" sz="2000" spc="-6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to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report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and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monitor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civic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issues. Crowdsourcing</a:t>
            </a:r>
            <a:r>
              <a:rPr dirty="0" sz="2000" spc="-8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enables multiple</a:t>
            </a:r>
            <a:r>
              <a:rPr dirty="0" sz="2000" spc="1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users</a:t>
            </a:r>
            <a:r>
              <a:rPr dirty="0" sz="2000" spc="-6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to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contribute</a:t>
            </a:r>
            <a:r>
              <a:rPr dirty="0" sz="2000" spc="10">
                <a:latin typeface="Calibri"/>
                <a:cs typeface="Calibri"/>
              </a:rPr>
              <a:t> </a:t>
            </a:r>
            <a:r>
              <a:rPr dirty="0" sz="2000" spc="-25">
                <a:latin typeface="Calibri"/>
                <a:cs typeface="Calibri"/>
              </a:rPr>
              <a:t>real-</a:t>
            </a:r>
            <a:r>
              <a:rPr dirty="0" sz="2000">
                <a:latin typeface="Calibri"/>
                <a:cs typeface="Calibri"/>
              </a:rPr>
              <a:t>time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information, helping </a:t>
            </a:r>
            <a:r>
              <a:rPr dirty="0" sz="2000" spc="-10">
                <a:latin typeface="Calibri"/>
                <a:cs typeface="Calibri"/>
              </a:rPr>
              <a:t>authorities </a:t>
            </a:r>
            <a:r>
              <a:rPr dirty="0" sz="2000">
                <a:latin typeface="Calibri"/>
                <a:cs typeface="Calibri"/>
              </a:rPr>
              <a:t>identify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and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prioritize</a:t>
            </a:r>
            <a:r>
              <a:rPr dirty="0" sz="2000" spc="-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problems</a:t>
            </a:r>
            <a:r>
              <a:rPr dirty="0" sz="2000" spc="-8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efficiently.</a:t>
            </a:r>
            <a:endParaRPr sz="2000">
              <a:latin typeface="Calibri"/>
              <a:cs typeface="Calibri"/>
            </a:endParaRPr>
          </a:p>
          <a:p>
            <a:pPr marL="355600" marR="5080" indent="-343535">
              <a:lnSpc>
                <a:spcPct val="100000"/>
              </a:lnSpc>
              <a:spcBef>
                <a:spcPts val="25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2000">
                <a:latin typeface="Calibri"/>
                <a:cs typeface="Calibri"/>
              </a:rPr>
              <a:t>Several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existing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systems</a:t>
            </a:r>
            <a:r>
              <a:rPr dirty="0" sz="2000" spc="-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and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studies</a:t>
            </a:r>
            <a:r>
              <a:rPr dirty="0" sz="2000" spc="-7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focus</a:t>
            </a:r>
            <a:r>
              <a:rPr dirty="0" sz="2000" spc="-7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on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e-</a:t>
            </a:r>
            <a:r>
              <a:rPr dirty="0" sz="2000">
                <a:latin typeface="Calibri"/>
                <a:cs typeface="Calibri"/>
              </a:rPr>
              <a:t>governance and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smart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city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solutions. </a:t>
            </a:r>
            <a:r>
              <a:rPr dirty="0" sz="2000">
                <a:latin typeface="Calibri"/>
                <a:cs typeface="Calibri"/>
              </a:rPr>
              <a:t>Government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grievance</a:t>
            </a:r>
            <a:r>
              <a:rPr dirty="0" sz="2000" spc="-7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portals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allow</a:t>
            </a:r>
            <a:r>
              <a:rPr dirty="0" sz="2000" spc="-7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complaint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registration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but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provide</a:t>
            </a:r>
            <a:r>
              <a:rPr dirty="0" sz="2000" spc="-8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limited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tracking</a:t>
            </a:r>
            <a:r>
              <a:rPr dirty="0" sz="2000" spc="-100">
                <a:latin typeface="Calibri"/>
                <a:cs typeface="Calibri"/>
              </a:rPr>
              <a:t> </a:t>
            </a:r>
            <a:r>
              <a:rPr dirty="0" sz="2000" spc="-25">
                <a:latin typeface="Calibri"/>
                <a:cs typeface="Calibri"/>
              </a:rPr>
              <a:t>and </a:t>
            </a:r>
            <a:r>
              <a:rPr dirty="0" sz="2000">
                <a:latin typeface="Calibri"/>
                <a:cs typeface="Calibri"/>
              </a:rPr>
              <a:t>engagement.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Mobile-</a:t>
            </a:r>
            <a:r>
              <a:rPr dirty="0" sz="2000">
                <a:latin typeface="Calibri"/>
                <a:cs typeface="Calibri"/>
              </a:rPr>
              <a:t>based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civic</a:t>
            </a:r>
            <a:r>
              <a:rPr dirty="0" sz="2000" spc="2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reporting</a:t>
            </a:r>
            <a:r>
              <a:rPr dirty="0" sz="2000" spc="-7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applications</a:t>
            </a:r>
            <a:r>
              <a:rPr dirty="0" sz="2000" spc="-6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support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image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and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location-based </a:t>
            </a:r>
            <a:r>
              <a:rPr dirty="0" sz="2000">
                <a:latin typeface="Calibri"/>
                <a:cs typeface="Calibri"/>
              </a:rPr>
              <a:t>reporting</a:t>
            </a:r>
            <a:r>
              <a:rPr dirty="0" sz="2000" spc="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but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are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often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 spc="-20">
                <a:latin typeface="Calibri"/>
                <a:cs typeface="Calibri"/>
              </a:rPr>
              <a:t>region-</a:t>
            </a:r>
            <a:r>
              <a:rPr dirty="0" sz="2000">
                <a:latin typeface="Calibri"/>
                <a:cs typeface="Calibri"/>
              </a:rPr>
              <a:t>specific. Smart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city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technologies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use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sensors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and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analytics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 spc="-25">
                <a:latin typeface="Calibri"/>
                <a:cs typeface="Calibri"/>
              </a:rPr>
              <a:t>but </a:t>
            </a:r>
            <a:r>
              <a:rPr dirty="0" sz="2000">
                <a:latin typeface="Calibri"/>
                <a:cs typeface="Calibri"/>
              </a:rPr>
              <a:t>require</a:t>
            </a:r>
            <a:r>
              <a:rPr dirty="0" sz="2000" spc="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high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costs.</a:t>
            </a:r>
            <a:r>
              <a:rPr dirty="0" sz="2000" spc="-9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proposed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system</a:t>
            </a:r>
            <a:r>
              <a:rPr dirty="0" sz="2000" spc="-7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integrates</a:t>
            </a:r>
            <a:r>
              <a:rPr dirty="0" sz="2000" spc="-7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crowdsourcing,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transparency, </a:t>
            </a:r>
            <a:r>
              <a:rPr dirty="0" sz="2000">
                <a:latin typeface="Calibri"/>
                <a:cs typeface="Calibri"/>
              </a:rPr>
              <a:t>and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 spc="-25">
                <a:latin typeface="Calibri"/>
                <a:cs typeface="Calibri"/>
              </a:rPr>
              <a:t>real-</a:t>
            </a:r>
            <a:r>
              <a:rPr dirty="0" sz="2000" spc="-20">
                <a:latin typeface="Calibri"/>
                <a:cs typeface="Calibri"/>
              </a:rPr>
              <a:t>time </a:t>
            </a:r>
            <a:r>
              <a:rPr dirty="0" sz="2000">
                <a:latin typeface="Calibri"/>
                <a:cs typeface="Calibri"/>
              </a:rPr>
              <a:t>updates to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improve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civic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issue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resolution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and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citizen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participation.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29209">
              <a:lnSpc>
                <a:spcPct val="100000"/>
              </a:lnSpc>
              <a:spcBef>
                <a:spcPts val="125"/>
              </a:spcBef>
            </a:pPr>
            <a:r>
              <a:rPr dirty="0"/>
              <a:t>Analysis</a:t>
            </a:r>
            <a:r>
              <a:rPr dirty="0" spc="-50"/>
              <a:t> </a:t>
            </a:r>
            <a:r>
              <a:rPr dirty="0"/>
              <a:t>of</a:t>
            </a:r>
            <a:r>
              <a:rPr dirty="0" spc="-55"/>
              <a:t> </a:t>
            </a:r>
            <a:r>
              <a:rPr dirty="0"/>
              <a:t>Problem</a:t>
            </a:r>
            <a:r>
              <a:rPr dirty="0" spc="-30"/>
              <a:t> </a:t>
            </a:r>
            <a:r>
              <a:rPr dirty="0" spc="-10"/>
              <a:t>Statement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69010" y="1047722"/>
            <a:ext cx="10822940" cy="2959735"/>
          </a:xfrm>
          <a:prstGeom prst="rect">
            <a:avLst/>
          </a:prstGeom>
        </p:spPr>
        <p:txBody>
          <a:bodyPr wrap="square" lIns="0" tIns="2038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605"/>
              </a:spcBef>
            </a:pPr>
            <a:r>
              <a:rPr dirty="0" u="sng" sz="2750" b="1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Technical</a:t>
            </a:r>
            <a:r>
              <a:rPr dirty="0" u="sng" sz="2750" spc="190" b="1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 </a:t>
            </a:r>
            <a:r>
              <a:rPr dirty="0" u="sng" sz="2750" spc="-10" b="1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Challenges:</a:t>
            </a:r>
            <a:endParaRPr sz="2750">
              <a:latin typeface="Verdana"/>
              <a:cs typeface="Verdana"/>
            </a:endParaRPr>
          </a:p>
          <a:p>
            <a:pPr marL="162560" indent="-120650">
              <a:lnSpc>
                <a:spcPct val="100000"/>
              </a:lnSpc>
              <a:spcBef>
                <a:spcPts val="965"/>
              </a:spcBef>
              <a:buSzPct val="94444"/>
              <a:buFont typeface="Calibri"/>
              <a:buChar char="•"/>
              <a:tabLst>
                <a:tab pos="162560" algn="l"/>
              </a:tabLst>
            </a:pPr>
            <a:r>
              <a:rPr dirty="0" sz="1800" b="1">
                <a:latin typeface="Calibri"/>
                <a:cs typeface="Calibri"/>
              </a:rPr>
              <a:t>Scalability:</a:t>
            </a:r>
            <a:r>
              <a:rPr dirty="0" sz="1800" spc="-40" b="1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Handling</a:t>
            </a:r>
            <a:r>
              <a:rPr dirty="0" sz="1800" spc="-8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large</a:t>
            </a:r>
            <a:r>
              <a:rPr dirty="0" sz="1800" spc="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number</a:t>
            </a:r>
            <a:r>
              <a:rPr dirty="0" sz="1800" spc="-1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of</a:t>
            </a:r>
            <a:r>
              <a:rPr dirty="0" sz="1800" spc="-1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users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and</a:t>
            </a:r>
            <a:r>
              <a:rPr dirty="0" sz="1800" spc="3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simultaneous</a:t>
            </a:r>
            <a:r>
              <a:rPr dirty="0" sz="1800" spc="-2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issue</a:t>
            </a:r>
            <a:r>
              <a:rPr dirty="0" sz="1800" spc="-6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reports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without</a:t>
            </a:r>
            <a:r>
              <a:rPr dirty="0" sz="1800" spc="-7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performance</a:t>
            </a:r>
            <a:r>
              <a:rPr dirty="0" sz="1800" spc="1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degradation.</a:t>
            </a:r>
            <a:endParaRPr sz="1800">
              <a:latin typeface="Calibri"/>
              <a:cs typeface="Calibri"/>
            </a:endParaRPr>
          </a:p>
          <a:p>
            <a:pPr marL="48895" marR="5080" indent="-6985">
              <a:lnSpc>
                <a:spcPct val="100800"/>
              </a:lnSpc>
              <a:buSzPct val="94444"/>
              <a:buFont typeface="Calibri"/>
              <a:buChar char="•"/>
              <a:tabLst>
                <a:tab pos="162560" algn="l"/>
              </a:tabLst>
            </a:pPr>
            <a:r>
              <a:rPr dirty="0" sz="1800" b="1">
                <a:latin typeface="Calibri"/>
                <a:cs typeface="Calibri"/>
              </a:rPr>
              <a:t>	</a:t>
            </a:r>
            <a:r>
              <a:rPr dirty="0" sz="1800" b="1">
                <a:latin typeface="Calibri"/>
                <a:cs typeface="Calibri"/>
              </a:rPr>
              <a:t>Data</a:t>
            </a:r>
            <a:r>
              <a:rPr dirty="0" sz="1800" spc="1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Accuracy:</a:t>
            </a:r>
            <a:r>
              <a:rPr dirty="0" sz="1800" spc="-65" b="1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Ensuring</a:t>
            </a:r>
            <a:r>
              <a:rPr dirty="0" sz="1800" spc="-2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the</a:t>
            </a:r>
            <a:r>
              <a:rPr dirty="0" sz="1800" spc="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correctness</a:t>
            </a:r>
            <a:r>
              <a:rPr dirty="0" sz="1800" spc="-9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of</a:t>
            </a:r>
            <a:r>
              <a:rPr dirty="0" sz="1800" spc="-2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reported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issues,</a:t>
            </a:r>
            <a:r>
              <a:rPr dirty="0" sz="1800" spc="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locations,</a:t>
            </a:r>
            <a:r>
              <a:rPr dirty="0" sz="1800" spc="-6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and</a:t>
            </a:r>
            <a:r>
              <a:rPr dirty="0" sz="1800" spc="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images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while</a:t>
            </a:r>
            <a:r>
              <a:rPr dirty="0" sz="1800" spc="-6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avoiding</a:t>
            </a:r>
            <a:r>
              <a:rPr dirty="0" sz="1800" spc="-8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duplicate</a:t>
            </a:r>
            <a:r>
              <a:rPr dirty="0" sz="1800" spc="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or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false reports.</a:t>
            </a:r>
            <a:endParaRPr sz="1800">
              <a:latin typeface="Calibri"/>
              <a:cs typeface="Calibri"/>
            </a:endParaRPr>
          </a:p>
          <a:p>
            <a:pPr marL="162560" indent="-120650">
              <a:lnSpc>
                <a:spcPct val="100000"/>
              </a:lnSpc>
              <a:spcBef>
                <a:spcPts val="20"/>
              </a:spcBef>
              <a:buSzPct val="94444"/>
              <a:buFont typeface="Calibri"/>
              <a:buChar char="•"/>
              <a:tabLst>
                <a:tab pos="162560" algn="l"/>
              </a:tabLst>
            </a:pPr>
            <a:r>
              <a:rPr dirty="0" sz="1800" spc="-10" b="1">
                <a:latin typeface="Calibri"/>
                <a:cs typeface="Calibri"/>
              </a:rPr>
              <a:t>Real-</a:t>
            </a:r>
            <a:r>
              <a:rPr dirty="0" sz="1800" b="1">
                <a:latin typeface="Calibri"/>
                <a:cs typeface="Calibri"/>
              </a:rPr>
              <a:t>time</a:t>
            </a:r>
            <a:r>
              <a:rPr dirty="0" sz="1800" spc="-6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Processing:</a:t>
            </a:r>
            <a:r>
              <a:rPr dirty="0" sz="1800" spc="35" b="1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Managing </a:t>
            </a:r>
            <a:r>
              <a:rPr dirty="0" sz="1800" spc="-20">
                <a:latin typeface="Calibri"/>
                <a:cs typeface="Calibri"/>
              </a:rPr>
              <a:t>real-</a:t>
            </a:r>
            <a:r>
              <a:rPr dirty="0" sz="1800">
                <a:latin typeface="Calibri"/>
                <a:cs typeface="Calibri"/>
              </a:rPr>
              <a:t>time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updates</a:t>
            </a:r>
            <a:r>
              <a:rPr dirty="0" sz="1800" spc="-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for</a:t>
            </a:r>
            <a:r>
              <a:rPr dirty="0" sz="1800" spc="-8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issue</a:t>
            </a:r>
            <a:r>
              <a:rPr dirty="0" sz="1800" spc="2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status,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notifications,</a:t>
            </a:r>
            <a:r>
              <a:rPr dirty="0" sz="1800" spc="-5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and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authority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responses.</a:t>
            </a:r>
            <a:endParaRPr sz="1800">
              <a:latin typeface="Calibri"/>
              <a:cs typeface="Calibri"/>
            </a:endParaRPr>
          </a:p>
          <a:p>
            <a:pPr marL="162560" indent="-120650">
              <a:lnSpc>
                <a:spcPts val="2130"/>
              </a:lnSpc>
              <a:spcBef>
                <a:spcPts val="15"/>
              </a:spcBef>
              <a:buSzPct val="94444"/>
              <a:buFont typeface="Calibri"/>
              <a:buChar char="•"/>
              <a:tabLst>
                <a:tab pos="162560" algn="l"/>
              </a:tabLst>
            </a:pPr>
            <a:r>
              <a:rPr dirty="0" sz="1800" b="1">
                <a:latin typeface="Calibri"/>
                <a:cs typeface="Calibri"/>
              </a:rPr>
              <a:t>Location</a:t>
            </a:r>
            <a:r>
              <a:rPr dirty="0" sz="1800" spc="-6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Mapping:</a:t>
            </a:r>
            <a:r>
              <a:rPr dirty="0" sz="1800" spc="-50" b="1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Accurate</a:t>
            </a:r>
            <a:r>
              <a:rPr dirty="0" sz="1800" spc="-6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GPS</a:t>
            </a:r>
            <a:r>
              <a:rPr dirty="0" sz="1800" spc="-6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integration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and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map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visualization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for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precise</a:t>
            </a:r>
            <a:r>
              <a:rPr dirty="0" sz="1800" spc="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issue</a:t>
            </a:r>
            <a:r>
              <a:rPr dirty="0" sz="1800" spc="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identification.</a:t>
            </a:r>
            <a:endParaRPr sz="1800">
              <a:latin typeface="Calibri"/>
              <a:cs typeface="Calibri"/>
            </a:endParaRPr>
          </a:p>
          <a:p>
            <a:pPr marL="162560" indent="-120650">
              <a:lnSpc>
                <a:spcPts val="2130"/>
              </a:lnSpc>
              <a:buSzPct val="94444"/>
              <a:buFont typeface="Calibri"/>
              <a:buChar char="•"/>
              <a:tabLst>
                <a:tab pos="162560" algn="l"/>
              </a:tabLst>
            </a:pPr>
            <a:r>
              <a:rPr dirty="0" sz="1800" b="1">
                <a:latin typeface="Calibri"/>
                <a:cs typeface="Calibri"/>
              </a:rPr>
              <a:t>Security</a:t>
            </a:r>
            <a:r>
              <a:rPr dirty="0" sz="1800" spc="-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&amp;</a:t>
            </a:r>
            <a:r>
              <a:rPr dirty="0" sz="1800" spc="-5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Privacy:</a:t>
            </a:r>
            <a:r>
              <a:rPr dirty="0" sz="1800" spc="-40" b="1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Protecting</a:t>
            </a:r>
            <a:r>
              <a:rPr dirty="0" sz="1800" spc="-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user</a:t>
            </a:r>
            <a:r>
              <a:rPr dirty="0" sz="1800" spc="-7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data,</a:t>
            </a:r>
            <a:r>
              <a:rPr dirty="0" sz="1800" spc="2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images,</a:t>
            </a:r>
            <a:r>
              <a:rPr dirty="0" sz="1800" spc="2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and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location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details</a:t>
            </a:r>
            <a:r>
              <a:rPr dirty="0" sz="1800" spc="-8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from</a:t>
            </a:r>
            <a:r>
              <a:rPr dirty="0" sz="1800" spc="-6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unauthorized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access.</a:t>
            </a:r>
            <a:endParaRPr sz="1800">
              <a:latin typeface="Calibri"/>
              <a:cs typeface="Calibri"/>
            </a:endParaRPr>
          </a:p>
          <a:p>
            <a:pPr marL="162560" indent="-120650">
              <a:lnSpc>
                <a:spcPct val="100000"/>
              </a:lnSpc>
              <a:spcBef>
                <a:spcPts val="20"/>
              </a:spcBef>
              <a:buSzPct val="94444"/>
              <a:buFont typeface="Calibri"/>
              <a:buChar char="•"/>
              <a:tabLst>
                <a:tab pos="162560" algn="l"/>
              </a:tabLst>
            </a:pPr>
            <a:r>
              <a:rPr dirty="0" sz="1800" b="1">
                <a:latin typeface="Calibri"/>
                <a:cs typeface="Calibri"/>
              </a:rPr>
              <a:t>System</a:t>
            </a:r>
            <a:r>
              <a:rPr dirty="0" sz="1800" spc="-35" b="1">
                <a:latin typeface="Calibri"/>
                <a:cs typeface="Calibri"/>
              </a:rPr>
              <a:t> </a:t>
            </a:r>
            <a:r>
              <a:rPr dirty="0" sz="1800" spc="-10" b="1">
                <a:latin typeface="Calibri"/>
                <a:cs typeface="Calibri"/>
              </a:rPr>
              <a:t>Integration:</a:t>
            </a:r>
            <a:r>
              <a:rPr dirty="0" sz="1800" spc="-75" b="1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Integrating</a:t>
            </a:r>
            <a:r>
              <a:rPr dirty="0" sz="1800" spc="-1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the</a:t>
            </a:r>
            <a:r>
              <a:rPr dirty="0" sz="1800" spc="-6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platform</a:t>
            </a:r>
            <a:r>
              <a:rPr dirty="0" sz="1800" spc="-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with</a:t>
            </a:r>
            <a:r>
              <a:rPr dirty="0" sz="1800" spc="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existing</a:t>
            </a:r>
            <a:r>
              <a:rPr dirty="0" sz="1800" spc="-2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municipal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databases</a:t>
            </a:r>
            <a:r>
              <a:rPr dirty="0" sz="1800" spc="-2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and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workflows.</a:t>
            </a:r>
            <a:endParaRPr sz="1800">
              <a:latin typeface="Calibri"/>
              <a:cs typeface="Calibri"/>
            </a:endParaRPr>
          </a:p>
          <a:p>
            <a:pPr marL="162560" indent="-120650">
              <a:lnSpc>
                <a:spcPct val="100000"/>
              </a:lnSpc>
              <a:spcBef>
                <a:spcPts val="15"/>
              </a:spcBef>
              <a:buSzPct val="94444"/>
              <a:buFont typeface="Calibri"/>
              <a:buChar char="•"/>
              <a:tabLst>
                <a:tab pos="162560" algn="l"/>
              </a:tabLst>
            </a:pPr>
            <a:r>
              <a:rPr dirty="0" sz="1800" b="1">
                <a:latin typeface="Calibri"/>
                <a:cs typeface="Calibri"/>
              </a:rPr>
              <a:t>User</a:t>
            </a:r>
            <a:r>
              <a:rPr dirty="0" sz="1800" spc="-3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Engagement:</a:t>
            </a:r>
            <a:r>
              <a:rPr dirty="0" sz="1800" spc="-50" b="1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Encouraging</a:t>
            </a:r>
            <a:r>
              <a:rPr dirty="0" sz="1800" spc="-1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continuous</a:t>
            </a:r>
            <a:r>
              <a:rPr dirty="0" sz="1800" spc="-2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citizen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participation</a:t>
            </a:r>
            <a:r>
              <a:rPr dirty="0" sz="1800" spc="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and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preventing</a:t>
            </a:r>
            <a:r>
              <a:rPr dirty="0" sz="1800" spc="-8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misuse</a:t>
            </a:r>
            <a:r>
              <a:rPr dirty="0" sz="1800" spc="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of</a:t>
            </a:r>
            <a:r>
              <a:rPr dirty="0" sz="1800" spc="-8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the</a:t>
            </a:r>
            <a:r>
              <a:rPr dirty="0" sz="1800" spc="1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system</a:t>
            </a:r>
            <a:r>
              <a:rPr dirty="0" sz="1800" spc="-10">
                <a:latin typeface="Arial MT"/>
                <a:cs typeface="Arial MT"/>
              </a:rPr>
              <a:t>.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/>
              <a:t>Analysis</a:t>
            </a:r>
            <a:r>
              <a:rPr dirty="0" spc="-50"/>
              <a:t> </a:t>
            </a:r>
            <a:r>
              <a:rPr dirty="0"/>
              <a:t>of</a:t>
            </a:r>
            <a:r>
              <a:rPr dirty="0" spc="-55"/>
              <a:t> </a:t>
            </a:r>
            <a:r>
              <a:rPr dirty="0"/>
              <a:t>Problem</a:t>
            </a:r>
            <a:r>
              <a:rPr dirty="0" spc="-30"/>
              <a:t> </a:t>
            </a:r>
            <a:r>
              <a:rPr dirty="0" spc="-10"/>
              <a:t>Statement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853757" y="1202273"/>
            <a:ext cx="8067040" cy="2185670"/>
          </a:xfrm>
          <a:prstGeom prst="rect">
            <a:avLst/>
          </a:prstGeom>
        </p:spPr>
        <p:txBody>
          <a:bodyPr wrap="square" lIns="0" tIns="698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0"/>
              </a:spcBef>
            </a:pPr>
            <a:r>
              <a:rPr dirty="0" u="sng" sz="2750" spc="-10" b="1">
                <a:solidFill>
                  <a:srgbClr val="1F1F1F"/>
                </a:solidFill>
                <a:uFill>
                  <a:solidFill>
                    <a:srgbClr val="1F1F1F"/>
                  </a:solidFill>
                </a:uFill>
                <a:latin typeface="Verdana"/>
                <a:cs typeface="Verdana"/>
              </a:rPr>
              <a:t>Needs</a:t>
            </a:r>
            <a:r>
              <a:rPr dirty="0" u="sng" sz="2750" spc="-10" b="1">
                <a:solidFill>
                  <a:srgbClr val="1F1F1F"/>
                </a:solidFill>
                <a:uFill>
                  <a:solidFill>
                    <a:srgbClr val="1F1F1F"/>
                  </a:solidFill>
                </a:uFill>
                <a:latin typeface="Calibri"/>
                <a:cs typeface="Calibri"/>
              </a:rPr>
              <a:t>:</a:t>
            </a:r>
            <a:endParaRPr sz="2750">
              <a:latin typeface="Calibri"/>
              <a:cs typeface="Calibri"/>
            </a:endParaRPr>
          </a:p>
          <a:p>
            <a:pPr marL="146685" indent="-120650">
              <a:lnSpc>
                <a:spcPct val="100000"/>
              </a:lnSpc>
              <a:spcBef>
                <a:spcPts val="280"/>
              </a:spcBef>
              <a:buSzPct val="94444"/>
              <a:buFont typeface="Calibri"/>
              <a:buChar char="•"/>
              <a:tabLst>
                <a:tab pos="146685" algn="l"/>
              </a:tabLst>
            </a:pPr>
            <a:r>
              <a:rPr dirty="0" sz="1800" spc="-10" b="1">
                <a:latin typeface="Calibri"/>
                <a:cs typeface="Calibri"/>
              </a:rPr>
              <a:t>Cloud-</a:t>
            </a:r>
            <a:r>
              <a:rPr dirty="0" sz="1800" b="1">
                <a:latin typeface="Calibri"/>
                <a:cs typeface="Calibri"/>
              </a:rPr>
              <a:t>based</a:t>
            </a:r>
            <a:r>
              <a:rPr dirty="0" sz="1800" spc="40" b="1">
                <a:latin typeface="Calibri"/>
                <a:cs typeface="Calibri"/>
              </a:rPr>
              <a:t> </a:t>
            </a:r>
            <a:r>
              <a:rPr dirty="0" sz="1800" spc="-10" b="1">
                <a:latin typeface="Calibri"/>
                <a:cs typeface="Calibri"/>
              </a:rPr>
              <a:t>Infrastructure</a:t>
            </a:r>
            <a:r>
              <a:rPr dirty="0" sz="1800" spc="-65" b="1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for</a:t>
            </a:r>
            <a:r>
              <a:rPr dirty="0" sz="1800" spc="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scalability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and</a:t>
            </a:r>
            <a:r>
              <a:rPr dirty="0" sz="1800" spc="-1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high</a:t>
            </a:r>
            <a:r>
              <a:rPr dirty="0" sz="1800" spc="-1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availability.</a:t>
            </a:r>
            <a:endParaRPr sz="1800">
              <a:latin typeface="Calibri"/>
              <a:cs typeface="Calibri"/>
            </a:endParaRPr>
          </a:p>
          <a:p>
            <a:pPr marL="146685" indent="-120650">
              <a:lnSpc>
                <a:spcPct val="100000"/>
              </a:lnSpc>
              <a:spcBef>
                <a:spcPts val="15"/>
              </a:spcBef>
              <a:buSzPct val="94444"/>
              <a:buFont typeface="Calibri"/>
              <a:buChar char="•"/>
              <a:tabLst>
                <a:tab pos="146685" algn="l"/>
              </a:tabLst>
            </a:pPr>
            <a:r>
              <a:rPr dirty="0" sz="1800" b="1">
                <a:latin typeface="Calibri"/>
                <a:cs typeface="Calibri"/>
              </a:rPr>
              <a:t>Secure</a:t>
            </a:r>
            <a:r>
              <a:rPr dirty="0" sz="1800" spc="-8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Authentication</a:t>
            </a:r>
            <a:r>
              <a:rPr dirty="0" sz="1800" spc="-50" b="1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mechanisms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for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citizens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and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authorities.</a:t>
            </a:r>
            <a:endParaRPr sz="1800">
              <a:latin typeface="Calibri"/>
              <a:cs typeface="Calibri"/>
            </a:endParaRPr>
          </a:p>
          <a:p>
            <a:pPr marL="146685" indent="-120650">
              <a:lnSpc>
                <a:spcPct val="100000"/>
              </a:lnSpc>
              <a:spcBef>
                <a:spcPts val="20"/>
              </a:spcBef>
              <a:buSzPct val="94444"/>
              <a:buFont typeface="Calibri"/>
              <a:buChar char="•"/>
              <a:tabLst>
                <a:tab pos="146685" algn="l"/>
              </a:tabLst>
            </a:pPr>
            <a:r>
              <a:rPr dirty="0" sz="1800" b="1">
                <a:latin typeface="Calibri"/>
                <a:cs typeface="Calibri"/>
              </a:rPr>
              <a:t>Database</a:t>
            </a:r>
            <a:r>
              <a:rPr dirty="0" sz="1800" spc="-2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Management</a:t>
            </a:r>
            <a:r>
              <a:rPr dirty="0" sz="1800" spc="-3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System</a:t>
            </a:r>
            <a:r>
              <a:rPr dirty="0" sz="1800" spc="10" b="1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to</a:t>
            </a:r>
            <a:r>
              <a:rPr dirty="0" sz="1800" spc="-6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store</a:t>
            </a:r>
            <a:r>
              <a:rPr dirty="0" sz="1800" spc="-7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reports,</a:t>
            </a:r>
            <a:r>
              <a:rPr dirty="0" sz="1800" spc="-1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images,</a:t>
            </a:r>
            <a:r>
              <a:rPr dirty="0" sz="1800" spc="-8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and</a:t>
            </a:r>
            <a:r>
              <a:rPr dirty="0" sz="1800" spc="1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status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logs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efficiently.</a:t>
            </a:r>
            <a:endParaRPr sz="1800">
              <a:latin typeface="Calibri"/>
              <a:cs typeface="Calibri"/>
            </a:endParaRPr>
          </a:p>
          <a:p>
            <a:pPr marL="146685" indent="-120650">
              <a:lnSpc>
                <a:spcPct val="100000"/>
              </a:lnSpc>
              <a:spcBef>
                <a:spcPts val="15"/>
              </a:spcBef>
              <a:buSzPct val="94444"/>
              <a:buFont typeface="Calibri"/>
              <a:buChar char="•"/>
              <a:tabLst>
                <a:tab pos="146685" algn="l"/>
              </a:tabLst>
            </a:pPr>
            <a:r>
              <a:rPr dirty="0" sz="1800" b="1">
                <a:latin typeface="Calibri"/>
                <a:cs typeface="Calibri"/>
              </a:rPr>
              <a:t>GIS</a:t>
            </a:r>
            <a:r>
              <a:rPr dirty="0" sz="1800" spc="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&amp;</a:t>
            </a:r>
            <a:r>
              <a:rPr dirty="0" sz="1800" spc="-3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Mapping</a:t>
            </a:r>
            <a:r>
              <a:rPr dirty="0" sz="1800" spc="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APIs</a:t>
            </a:r>
            <a:r>
              <a:rPr dirty="0" sz="1800" spc="-25" b="1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for</a:t>
            </a:r>
            <a:r>
              <a:rPr dirty="0" sz="1800" spc="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location-</a:t>
            </a:r>
            <a:r>
              <a:rPr dirty="0" sz="1800">
                <a:latin typeface="Calibri"/>
                <a:cs typeface="Calibri"/>
              </a:rPr>
              <a:t>based</a:t>
            </a:r>
            <a:r>
              <a:rPr dirty="0" sz="1800" spc="-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issue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reporting.</a:t>
            </a:r>
            <a:endParaRPr sz="1800">
              <a:latin typeface="Calibri"/>
              <a:cs typeface="Calibri"/>
            </a:endParaRPr>
          </a:p>
          <a:p>
            <a:pPr marL="146685" indent="-120650">
              <a:lnSpc>
                <a:spcPts val="2130"/>
              </a:lnSpc>
              <a:spcBef>
                <a:spcPts val="20"/>
              </a:spcBef>
              <a:buSzPct val="94444"/>
              <a:buFont typeface="Calibri"/>
              <a:buChar char="•"/>
              <a:tabLst>
                <a:tab pos="146685" algn="l"/>
              </a:tabLst>
            </a:pPr>
            <a:r>
              <a:rPr dirty="0" sz="1800" b="1">
                <a:latin typeface="Calibri"/>
                <a:cs typeface="Calibri"/>
              </a:rPr>
              <a:t>Notification Services</a:t>
            </a:r>
            <a:r>
              <a:rPr dirty="0" sz="1800" spc="-60" b="1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(SMS/Email/App)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for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real-</a:t>
            </a:r>
            <a:r>
              <a:rPr dirty="0" sz="1800">
                <a:latin typeface="Calibri"/>
                <a:cs typeface="Calibri"/>
              </a:rPr>
              <a:t>time</a:t>
            </a:r>
            <a:r>
              <a:rPr dirty="0" sz="1800" spc="-7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updates.</a:t>
            </a:r>
            <a:endParaRPr sz="1800">
              <a:latin typeface="Calibri"/>
              <a:cs typeface="Calibri"/>
            </a:endParaRPr>
          </a:p>
          <a:p>
            <a:pPr marL="146685" indent="-120650">
              <a:lnSpc>
                <a:spcPts val="2130"/>
              </a:lnSpc>
              <a:buSzPct val="94444"/>
              <a:buFont typeface="Calibri"/>
              <a:buChar char="•"/>
              <a:tabLst>
                <a:tab pos="146685" algn="l"/>
              </a:tabLst>
            </a:pPr>
            <a:r>
              <a:rPr dirty="0" sz="1800" b="1">
                <a:latin typeface="Calibri"/>
                <a:cs typeface="Calibri"/>
              </a:rPr>
              <a:t>Admin</a:t>
            </a:r>
            <a:r>
              <a:rPr dirty="0" sz="1800" spc="-6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Dashboard</a:t>
            </a:r>
            <a:r>
              <a:rPr dirty="0" sz="1800" spc="15" b="1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for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authorities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to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monitor,</a:t>
            </a:r>
            <a:r>
              <a:rPr dirty="0" sz="1800" spc="-6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prioritize,</a:t>
            </a:r>
            <a:r>
              <a:rPr dirty="0" sz="1800" spc="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and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resolve</a:t>
            </a:r>
            <a:r>
              <a:rPr dirty="0" sz="1800" spc="-6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issues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effectively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80593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125"/>
              </a:spcBef>
            </a:pPr>
            <a:r>
              <a:rPr dirty="0"/>
              <a:t>Innovation</a:t>
            </a:r>
            <a:r>
              <a:rPr dirty="0" spc="-55"/>
              <a:t> </a:t>
            </a:r>
            <a:r>
              <a:rPr dirty="0"/>
              <a:t>or</a:t>
            </a:r>
            <a:r>
              <a:rPr dirty="0" spc="25"/>
              <a:t> </a:t>
            </a:r>
            <a:r>
              <a:rPr dirty="0"/>
              <a:t>Novel</a:t>
            </a:r>
            <a:r>
              <a:rPr dirty="0" spc="25"/>
              <a:t> </a:t>
            </a:r>
            <a:r>
              <a:rPr dirty="0" spc="-10"/>
              <a:t>Contributions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799147" y="1157287"/>
            <a:ext cx="10480040" cy="21659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 marR="5080" indent="-6985">
              <a:lnSpc>
                <a:spcPct val="100000"/>
              </a:lnSpc>
              <a:spcBef>
                <a:spcPts val="125"/>
              </a:spcBef>
              <a:buSzPct val="95000"/>
              <a:buChar char="•"/>
              <a:tabLst>
                <a:tab pos="139065" algn="l"/>
              </a:tabLst>
            </a:pPr>
            <a:r>
              <a:rPr dirty="0" sz="2000">
                <a:latin typeface="Calibri"/>
                <a:cs typeface="Calibri"/>
              </a:rPr>
              <a:t>	</a:t>
            </a:r>
            <a:r>
              <a:rPr dirty="0" sz="2000">
                <a:latin typeface="Calibri"/>
                <a:cs typeface="Calibri"/>
              </a:rPr>
              <a:t>Introduces</a:t>
            </a:r>
            <a:r>
              <a:rPr dirty="0" sz="2000" spc="-8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crowdsourced</a:t>
            </a:r>
            <a:r>
              <a:rPr dirty="0" sz="2000" spc="-7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approach</a:t>
            </a:r>
            <a:r>
              <a:rPr dirty="0" sz="2000" spc="-30" b="1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that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allows</a:t>
            </a:r>
            <a:r>
              <a:rPr dirty="0" sz="2000" spc="-1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multiple citizens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to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report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and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validate</a:t>
            </a:r>
            <a:r>
              <a:rPr dirty="0" sz="2000" spc="-7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civic</a:t>
            </a:r>
            <a:r>
              <a:rPr dirty="0" sz="2000" spc="-6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issues </a:t>
            </a:r>
            <a:r>
              <a:rPr dirty="0" sz="2000">
                <a:latin typeface="Calibri"/>
                <a:cs typeface="Calibri"/>
              </a:rPr>
              <a:t>in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real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 spc="-20">
                <a:latin typeface="Calibri"/>
                <a:cs typeface="Calibri"/>
              </a:rPr>
              <a:t>time.</a:t>
            </a:r>
            <a:endParaRPr sz="2000">
              <a:latin typeface="Calibri"/>
              <a:cs typeface="Calibri"/>
            </a:endParaRPr>
          </a:p>
          <a:p>
            <a:pPr marL="12700" marR="508634" indent="-6985">
              <a:lnSpc>
                <a:spcPct val="100000"/>
              </a:lnSpc>
              <a:spcBef>
                <a:spcPts val="10"/>
              </a:spcBef>
              <a:buSzPct val="95000"/>
              <a:buChar char="•"/>
              <a:tabLst>
                <a:tab pos="139065" algn="l"/>
              </a:tabLst>
            </a:pPr>
            <a:r>
              <a:rPr dirty="0" sz="2000">
                <a:latin typeface="Calibri"/>
                <a:cs typeface="Calibri"/>
              </a:rPr>
              <a:t>	</a:t>
            </a:r>
            <a:r>
              <a:rPr dirty="0" sz="2000">
                <a:latin typeface="Calibri"/>
                <a:cs typeface="Calibri"/>
              </a:rPr>
              <a:t>Provides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location-</a:t>
            </a:r>
            <a:r>
              <a:rPr dirty="0" sz="2000" b="1">
                <a:latin typeface="Calibri"/>
                <a:cs typeface="Calibri"/>
              </a:rPr>
              <a:t>based</a:t>
            </a:r>
            <a:r>
              <a:rPr dirty="0" sz="2000" spc="-6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reporting</a:t>
            </a:r>
            <a:r>
              <a:rPr dirty="0" sz="2000" spc="-2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with images</a:t>
            </a:r>
            <a:r>
              <a:rPr dirty="0" sz="2000">
                <a:latin typeface="Calibri"/>
                <a:cs typeface="Calibri"/>
              </a:rPr>
              <a:t>,</a:t>
            </a:r>
            <a:r>
              <a:rPr dirty="0" sz="2000" spc="-1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improving</a:t>
            </a:r>
            <a:r>
              <a:rPr dirty="0" sz="2000" spc="-8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accuracy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and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faster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identification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 spc="-25">
                <a:latin typeface="Calibri"/>
                <a:cs typeface="Calibri"/>
              </a:rPr>
              <a:t>of </a:t>
            </a:r>
            <a:r>
              <a:rPr dirty="0" sz="2000" spc="-10">
                <a:latin typeface="Calibri"/>
                <a:cs typeface="Calibri"/>
              </a:rPr>
              <a:t>problems.</a:t>
            </a:r>
            <a:endParaRPr sz="2000">
              <a:latin typeface="Calibri"/>
              <a:cs typeface="Calibri"/>
            </a:endParaRPr>
          </a:p>
          <a:p>
            <a:pPr marL="139065" indent="-133350">
              <a:lnSpc>
                <a:spcPct val="100000"/>
              </a:lnSpc>
              <a:spcBef>
                <a:spcPts val="5"/>
              </a:spcBef>
              <a:buSzPct val="95000"/>
              <a:buChar char="•"/>
              <a:tabLst>
                <a:tab pos="139065" algn="l"/>
              </a:tabLst>
            </a:pPr>
            <a:r>
              <a:rPr dirty="0" sz="2000">
                <a:latin typeface="Calibri"/>
                <a:cs typeface="Calibri"/>
              </a:rPr>
              <a:t>Enables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transparent</a:t>
            </a:r>
            <a:r>
              <a:rPr dirty="0" sz="2000" spc="-7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issue</a:t>
            </a:r>
            <a:r>
              <a:rPr dirty="0" sz="2000" spc="-2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tracking</a:t>
            </a:r>
            <a:r>
              <a:rPr dirty="0" sz="2000">
                <a:latin typeface="Calibri"/>
                <a:cs typeface="Calibri"/>
              </a:rPr>
              <a:t>,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allowing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citizens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to</a:t>
            </a:r>
            <a:r>
              <a:rPr dirty="0" sz="2000" spc="-6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view</a:t>
            </a:r>
            <a:r>
              <a:rPr dirty="0" sz="2000" spc="-7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status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updates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and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authority</a:t>
            </a:r>
            <a:r>
              <a:rPr dirty="0" sz="2000" spc="-7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actions.</a:t>
            </a:r>
            <a:endParaRPr sz="2000">
              <a:latin typeface="Calibri"/>
              <a:cs typeface="Calibri"/>
            </a:endParaRPr>
          </a:p>
          <a:p>
            <a:pPr marL="139065" indent="-133350">
              <a:lnSpc>
                <a:spcPct val="100000"/>
              </a:lnSpc>
              <a:spcBef>
                <a:spcPts val="5"/>
              </a:spcBef>
              <a:buSzPct val="95000"/>
              <a:buChar char="•"/>
              <a:tabLst>
                <a:tab pos="139065" algn="l"/>
              </a:tabLst>
            </a:pPr>
            <a:r>
              <a:rPr dirty="0" sz="2000">
                <a:latin typeface="Calibri"/>
                <a:cs typeface="Calibri"/>
              </a:rPr>
              <a:t>Supports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priority-</a:t>
            </a:r>
            <a:r>
              <a:rPr dirty="0" sz="2000" b="1">
                <a:latin typeface="Calibri"/>
                <a:cs typeface="Calibri"/>
              </a:rPr>
              <a:t>based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resolution</a:t>
            </a:r>
            <a:r>
              <a:rPr dirty="0" sz="2000" spc="-15" b="1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using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public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feedback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and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issue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severity.</a:t>
            </a:r>
            <a:endParaRPr sz="2000">
              <a:latin typeface="Calibri"/>
              <a:cs typeface="Calibri"/>
            </a:endParaRPr>
          </a:p>
          <a:p>
            <a:pPr marL="139065" indent="-133350">
              <a:lnSpc>
                <a:spcPct val="100000"/>
              </a:lnSpc>
              <a:buSzPct val="95000"/>
              <a:buChar char="•"/>
              <a:tabLst>
                <a:tab pos="139065" algn="l"/>
              </a:tabLst>
            </a:pPr>
            <a:r>
              <a:rPr dirty="0" sz="2000">
                <a:latin typeface="Calibri"/>
                <a:cs typeface="Calibri"/>
              </a:rPr>
              <a:t>Offers</a:t>
            </a:r>
            <a:r>
              <a:rPr dirty="0" sz="2000" spc="-7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single</a:t>
            </a:r>
            <a:r>
              <a:rPr dirty="0" sz="2000" spc="-6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unified</a:t>
            </a:r>
            <a:r>
              <a:rPr dirty="0" sz="2000" spc="-6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platform</a:t>
            </a:r>
            <a:r>
              <a:rPr dirty="0" sz="2000" spc="-100" b="1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connecting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citizens</a:t>
            </a:r>
            <a:r>
              <a:rPr dirty="0" sz="2000" spc="-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and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civic</a:t>
            </a:r>
            <a:r>
              <a:rPr dirty="0" sz="2000" spc="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authorities</a:t>
            </a:r>
            <a:r>
              <a:rPr dirty="0" sz="2000" spc="-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for</a:t>
            </a:r>
            <a:r>
              <a:rPr dirty="0" sz="2000" spc="-6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efficient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coordination.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82245">
              <a:lnSpc>
                <a:spcPct val="100000"/>
              </a:lnSpc>
              <a:spcBef>
                <a:spcPts val="125"/>
              </a:spcBef>
            </a:pPr>
            <a:r>
              <a:rPr dirty="0"/>
              <a:t>Technology</a:t>
            </a:r>
            <a:r>
              <a:rPr dirty="0" spc="40"/>
              <a:t> </a:t>
            </a:r>
            <a:r>
              <a:rPr dirty="0"/>
              <a:t>Stack</a:t>
            </a:r>
            <a:r>
              <a:rPr dirty="0" spc="65"/>
              <a:t> </a:t>
            </a:r>
            <a:r>
              <a:rPr dirty="0" spc="-10"/>
              <a:t>Components: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44244" y="1018603"/>
            <a:ext cx="8042909" cy="24707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39065" indent="-133350">
              <a:lnSpc>
                <a:spcPct val="100000"/>
              </a:lnSpc>
              <a:spcBef>
                <a:spcPts val="125"/>
              </a:spcBef>
              <a:buSzPct val="95000"/>
              <a:buFont typeface="Calibri"/>
              <a:buChar char="•"/>
              <a:tabLst>
                <a:tab pos="139065" algn="l"/>
              </a:tabLst>
            </a:pPr>
            <a:r>
              <a:rPr dirty="0" sz="2000" b="1">
                <a:latin typeface="Calibri"/>
                <a:cs typeface="Calibri"/>
              </a:rPr>
              <a:t>Frontend:</a:t>
            </a:r>
            <a:r>
              <a:rPr dirty="0" sz="2000" spc="-55" b="1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HTML,</a:t>
            </a:r>
            <a:r>
              <a:rPr dirty="0" sz="2000" spc="-6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CSS, JavaScript,</a:t>
            </a:r>
            <a:r>
              <a:rPr dirty="0" sz="2000" spc="-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React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(for</a:t>
            </a:r>
            <a:r>
              <a:rPr dirty="0" sz="2000" spc="20">
                <a:latin typeface="Calibri"/>
                <a:cs typeface="Calibri"/>
              </a:rPr>
              <a:t> </a:t>
            </a:r>
            <a:r>
              <a:rPr dirty="0" sz="2000" spc="-30">
                <a:latin typeface="Calibri"/>
                <a:cs typeface="Calibri"/>
              </a:rPr>
              <a:t>user-</a:t>
            </a:r>
            <a:r>
              <a:rPr dirty="0" sz="2000">
                <a:latin typeface="Calibri"/>
                <a:cs typeface="Calibri"/>
              </a:rPr>
              <a:t>friendly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web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interface)</a:t>
            </a:r>
            <a:endParaRPr sz="2000">
              <a:latin typeface="Calibri"/>
              <a:cs typeface="Calibri"/>
            </a:endParaRPr>
          </a:p>
          <a:p>
            <a:pPr marL="139065" indent="-133350">
              <a:lnSpc>
                <a:spcPct val="100000"/>
              </a:lnSpc>
              <a:spcBef>
                <a:spcPts val="5"/>
              </a:spcBef>
              <a:buSzPct val="95000"/>
              <a:buFont typeface="Calibri"/>
              <a:buChar char="•"/>
              <a:tabLst>
                <a:tab pos="139065" algn="l"/>
              </a:tabLst>
            </a:pPr>
            <a:r>
              <a:rPr dirty="0" sz="2000" b="1">
                <a:latin typeface="Calibri"/>
                <a:cs typeface="Calibri"/>
              </a:rPr>
              <a:t>Backend:</a:t>
            </a:r>
            <a:r>
              <a:rPr dirty="0" sz="2000" spc="-15" b="1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Node.js</a:t>
            </a:r>
            <a:r>
              <a:rPr dirty="0" sz="2000" spc="-7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with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Express</a:t>
            </a:r>
            <a:r>
              <a:rPr dirty="0" sz="2000" spc="-7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/</a:t>
            </a:r>
            <a:r>
              <a:rPr dirty="0" sz="2000" spc="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Java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Spring</a:t>
            </a:r>
            <a:r>
              <a:rPr dirty="0" sz="2000" spc="-7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Boot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(API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and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business </a:t>
            </a:r>
            <a:r>
              <a:rPr dirty="0" sz="2000" spc="-10">
                <a:latin typeface="Calibri"/>
                <a:cs typeface="Calibri"/>
              </a:rPr>
              <a:t>logic)</a:t>
            </a:r>
            <a:endParaRPr sz="2000">
              <a:latin typeface="Calibri"/>
              <a:cs typeface="Calibri"/>
            </a:endParaRPr>
          </a:p>
          <a:p>
            <a:pPr marL="139065" indent="-133350">
              <a:lnSpc>
                <a:spcPct val="100000"/>
              </a:lnSpc>
              <a:buSzPct val="95000"/>
              <a:buFont typeface="Calibri"/>
              <a:buChar char="•"/>
              <a:tabLst>
                <a:tab pos="139065" algn="l"/>
              </a:tabLst>
            </a:pPr>
            <a:r>
              <a:rPr dirty="0" sz="2000" b="1">
                <a:latin typeface="Calibri"/>
                <a:cs typeface="Calibri"/>
              </a:rPr>
              <a:t>Database:</a:t>
            </a:r>
            <a:r>
              <a:rPr dirty="0" sz="2000" spc="-20" b="1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MySQL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/</a:t>
            </a:r>
            <a:r>
              <a:rPr dirty="0" sz="2000" spc="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PostgreSQL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/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MongoDB</a:t>
            </a:r>
            <a:r>
              <a:rPr dirty="0" sz="2000" spc="-6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(issue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and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user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data</a:t>
            </a:r>
            <a:r>
              <a:rPr dirty="0" sz="2000" spc="-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storage)</a:t>
            </a:r>
            <a:endParaRPr sz="2000">
              <a:latin typeface="Calibri"/>
              <a:cs typeface="Calibri"/>
            </a:endParaRPr>
          </a:p>
          <a:p>
            <a:pPr marL="139065" indent="-133350">
              <a:lnSpc>
                <a:spcPct val="100000"/>
              </a:lnSpc>
              <a:spcBef>
                <a:spcPts val="5"/>
              </a:spcBef>
              <a:buSzPct val="95000"/>
              <a:buFont typeface="Calibri"/>
              <a:buChar char="•"/>
              <a:tabLst>
                <a:tab pos="139065" algn="l"/>
              </a:tabLst>
            </a:pPr>
            <a:r>
              <a:rPr dirty="0" sz="2000" b="1">
                <a:latin typeface="Calibri"/>
                <a:cs typeface="Calibri"/>
              </a:rPr>
              <a:t>Cloud</a:t>
            </a:r>
            <a:r>
              <a:rPr dirty="0" sz="2000" spc="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&amp;</a:t>
            </a:r>
            <a:r>
              <a:rPr dirty="0" sz="2000" spc="-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Hosting:</a:t>
            </a:r>
            <a:r>
              <a:rPr dirty="0" sz="2000" spc="-15" b="1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AWS</a:t>
            </a:r>
            <a:r>
              <a:rPr dirty="0" sz="2000" spc="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/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Firebase</a:t>
            </a:r>
            <a:r>
              <a:rPr dirty="0" sz="2000" spc="1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/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Azure</a:t>
            </a:r>
            <a:r>
              <a:rPr dirty="0" sz="2000" spc="1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(scalability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and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availability)</a:t>
            </a:r>
            <a:endParaRPr sz="2000">
              <a:latin typeface="Calibri"/>
              <a:cs typeface="Calibri"/>
            </a:endParaRPr>
          </a:p>
          <a:p>
            <a:pPr marL="139065" indent="-133350">
              <a:lnSpc>
                <a:spcPct val="100000"/>
              </a:lnSpc>
              <a:spcBef>
                <a:spcPts val="5"/>
              </a:spcBef>
              <a:buSzPct val="95000"/>
              <a:buFont typeface="Calibri"/>
              <a:buChar char="•"/>
              <a:tabLst>
                <a:tab pos="139065" algn="l"/>
              </a:tabLst>
            </a:pPr>
            <a:r>
              <a:rPr dirty="0" sz="2000" b="1">
                <a:latin typeface="Calibri"/>
                <a:cs typeface="Calibri"/>
              </a:rPr>
              <a:t>Maps</a:t>
            </a:r>
            <a:r>
              <a:rPr dirty="0" sz="2000" spc="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&amp;</a:t>
            </a:r>
            <a:r>
              <a:rPr dirty="0" sz="2000" spc="-9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Location:</a:t>
            </a:r>
            <a:r>
              <a:rPr dirty="0" sz="2000" spc="-25" b="1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Google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Maps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API</a:t>
            </a:r>
            <a:r>
              <a:rPr dirty="0" sz="2000" spc="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/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OpenStreetMap</a:t>
            </a:r>
            <a:r>
              <a:rPr dirty="0" sz="2000" spc="-10">
                <a:latin typeface="Calibri"/>
                <a:cs typeface="Calibri"/>
              </a:rPr>
              <a:t> </a:t>
            </a:r>
            <a:r>
              <a:rPr dirty="0" sz="2000" spc="-20">
                <a:latin typeface="Calibri"/>
                <a:cs typeface="Calibri"/>
              </a:rPr>
              <a:t>(GPS-</a:t>
            </a:r>
            <a:r>
              <a:rPr dirty="0" sz="2000">
                <a:latin typeface="Calibri"/>
                <a:cs typeface="Calibri"/>
              </a:rPr>
              <a:t>based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reporting)</a:t>
            </a:r>
            <a:endParaRPr sz="2000">
              <a:latin typeface="Calibri"/>
              <a:cs typeface="Calibri"/>
            </a:endParaRPr>
          </a:p>
          <a:p>
            <a:pPr marL="139065" indent="-133350">
              <a:lnSpc>
                <a:spcPct val="100000"/>
              </a:lnSpc>
              <a:buSzPct val="95000"/>
              <a:buFont typeface="Calibri"/>
              <a:buChar char="•"/>
              <a:tabLst>
                <a:tab pos="139065" algn="l"/>
              </a:tabLst>
            </a:pPr>
            <a:r>
              <a:rPr dirty="0" sz="2000" b="1">
                <a:latin typeface="Calibri"/>
                <a:cs typeface="Calibri"/>
              </a:rPr>
              <a:t>Authentication:</a:t>
            </a:r>
            <a:r>
              <a:rPr dirty="0" sz="2000" spc="-30" b="1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JWT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/</a:t>
            </a:r>
            <a:r>
              <a:rPr dirty="0" sz="2000" spc="-1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OAuth</a:t>
            </a:r>
            <a:r>
              <a:rPr dirty="0" sz="2000" spc="-6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(secure</a:t>
            </a:r>
            <a:r>
              <a:rPr dirty="0" sz="2000" spc="-10">
                <a:latin typeface="Calibri"/>
                <a:cs typeface="Calibri"/>
              </a:rPr>
              <a:t> login)</a:t>
            </a:r>
            <a:endParaRPr sz="2000">
              <a:latin typeface="Calibri"/>
              <a:cs typeface="Calibri"/>
            </a:endParaRPr>
          </a:p>
          <a:p>
            <a:pPr marL="139700" indent="-133350">
              <a:lnSpc>
                <a:spcPct val="100000"/>
              </a:lnSpc>
              <a:spcBef>
                <a:spcPts val="5"/>
              </a:spcBef>
              <a:buSzPct val="95000"/>
              <a:buFont typeface="Calibri"/>
              <a:buChar char="•"/>
              <a:tabLst>
                <a:tab pos="139700" algn="l"/>
              </a:tabLst>
            </a:pPr>
            <a:r>
              <a:rPr dirty="0" sz="2000" b="1">
                <a:latin typeface="Calibri"/>
                <a:cs typeface="Calibri"/>
              </a:rPr>
              <a:t>Notifications:</a:t>
            </a:r>
            <a:r>
              <a:rPr dirty="0" sz="2000" spc="-10" b="1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Email,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SMS,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Push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Notifications</a:t>
            </a:r>
            <a:endParaRPr sz="2000">
              <a:latin typeface="Calibri"/>
              <a:cs typeface="Calibri"/>
            </a:endParaRPr>
          </a:p>
          <a:p>
            <a:pPr marL="139065" indent="-133350">
              <a:lnSpc>
                <a:spcPct val="100000"/>
              </a:lnSpc>
              <a:spcBef>
                <a:spcPts val="5"/>
              </a:spcBef>
              <a:buSzPct val="95000"/>
              <a:buFont typeface="Calibri"/>
              <a:buChar char="•"/>
              <a:tabLst>
                <a:tab pos="139065" algn="l"/>
              </a:tabLst>
            </a:pPr>
            <a:r>
              <a:rPr dirty="0" sz="2000" b="1">
                <a:latin typeface="Calibri"/>
                <a:cs typeface="Calibri"/>
              </a:rPr>
              <a:t>Version Control:</a:t>
            </a:r>
            <a:r>
              <a:rPr dirty="0" sz="2000" spc="-20" b="1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Git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&amp;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GitHub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4236" rIns="0" bIns="0" rtlCol="0" vert="horz">
            <a:spAutoFit/>
          </a:bodyPr>
          <a:lstStyle/>
          <a:p>
            <a:pPr marL="182245">
              <a:lnSpc>
                <a:spcPct val="100000"/>
              </a:lnSpc>
              <a:spcBef>
                <a:spcPts val="130"/>
              </a:spcBef>
            </a:pPr>
            <a:r>
              <a:rPr dirty="0"/>
              <a:t>Analysis</a:t>
            </a:r>
            <a:r>
              <a:rPr dirty="0" spc="-55"/>
              <a:t> </a:t>
            </a:r>
            <a:r>
              <a:rPr dirty="0"/>
              <a:t>of</a:t>
            </a:r>
            <a:r>
              <a:rPr dirty="0" spc="-55"/>
              <a:t> </a:t>
            </a:r>
            <a:r>
              <a:rPr dirty="0"/>
              <a:t>Problem</a:t>
            </a:r>
            <a:r>
              <a:rPr dirty="0" spc="-40"/>
              <a:t> </a:t>
            </a:r>
            <a:r>
              <a:rPr dirty="0"/>
              <a:t>Statement</a:t>
            </a:r>
            <a:r>
              <a:rPr dirty="0" spc="70"/>
              <a:t> </a:t>
            </a:r>
            <a:r>
              <a:rPr dirty="0" sz="2000" spc="-10"/>
              <a:t>(contd...)</a:t>
            </a:r>
            <a:endParaRPr sz="2000"/>
          </a:p>
        </p:txBody>
      </p:sp>
      <p:sp>
        <p:nvSpPr>
          <p:cNvPr id="3" name="object 3" descr=""/>
          <p:cNvSpPr txBox="1"/>
          <p:nvPr/>
        </p:nvSpPr>
        <p:spPr>
          <a:xfrm>
            <a:off x="870585" y="1152524"/>
            <a:ext cx="6663055" cy="44176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5400">
              <a:lnSpc>
                <a:spcPts val="2845"/>
              </a:lnSpc>
              <a:spcBef>
                <a:spcPts val="105"/>
              </a:spcBef>
            </a:pPr>
            <a:r>
              <a:rPr dirty="0" u="sng" sz="2400" spc="-20" b="1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Software</a:t>
            </a:r>
            <a:r>
              <a:rPr dirty="0" u="sng" sz="2400" spc="-60" b="1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 </a:t>
            </a:r>
            <a:r>
              <a:rPr dirty="0" u="sng" sz="2400" spc="-10" b="1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Requirements:</a:t>
            </a:r>
            <a:endParaRPr sz="2400">
              <a:latin typeface="Cambria"/>
              <a:cs typeface="Cambria"/>
            </a:endParaRPr>
          </a:p>
          <a:p>
            <a:pPr marL="139065" indent="-133350">
              <a:lnSpc>
                <a:spcPts val="2365"/>
              </a:lnSpc>
              <a:buSzPct val="95000"/>
              <a:buFont typeface="Calibri"/>
              <a:buChar char="•"/>
              <a:tabLst>
                <a:tab pos="139065" algn="l"/>
              </a:tabLst>
            </a:pPr>
            <a:r>
              <a:rPr dirty="0" sz="2000" b="1">
                <a:latin typeface="Calibri"/>
                <a:cs typeface="Calibri"/>
              </a:rPr>
              <a:t>Operating</a:t>
            </a:r>
            <a:r>
              <a:rPr dirty="0" sz="2000" spc="-7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System</a:t>
            </a:r>
            <a:r>
              <a:rPr dirty="0" sz="2000">
                <a:latin typeface="Calibri"/>
                <a:cs typeface="Calibri"/>
              </a:rPr>
              <a:t>: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Windows</a:t>
            </a:r>
            <a:r>
              <a:rPr dirty="0" sz="2000" spc="1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/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Linux</a:t>
            </a:r>
            <a:r>
              <a:rPr dirty="0" sz="2000" spc="-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/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macOS</a:t>
            </a:r>
            <a:endParaRPr sz="2000">
              <a:latin typeface="Calibri"/>
              <a:cs typeface="Calibri"/>
            </a:endParaRPr>
          </a:p>
          <a:p>
            <a:pPr marL="139065" indent="-133350">
              <a:lnSpc>
                <a:spcPct val="100000"/>
              </a:lnSpc>
              <a:buSzPct val="95000"/>
              <a:buFont typeface="Calibri"/>
              <a:buChar char="•"/>
              <a:tabLst>
                <a:tab pos="139065" algn="l"/>
              </a:tabLst>
            </a:pPr>
            <a:r>
              <a:rPr dirty="0" sz="2000" b="1">
                <a:latin typeface="Calibri"/>
                <a:cs typeface="Calibri"/>
              </a:rPr>
              <a:t>Frontend</a:t>
            </a:r>
            <a:r>
              <a:rPr dirty="0" sz="2000" spc="-5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Technologies</a:t>
            </a:r>
            <a:r>
              <a:rPr dirty="0" sz="2000" spc="-10">
                <a:latin typeface="Calibri"/>
                <a:cs typeface="Calibri"/>
              </a:rPr>
              <a:t>: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HTML,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CSS,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JavaScript,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React</a:t>
            </a:r>
            <a:endParaRPr sz="2000">
              <a:latin typeface="Calibri"/>
              <a:cs typeface="Calibri"/>
            </a:endParaRPr>
          </a:p>
          <a:p>
            <a:pPr marL="139065" indent="-133350">
              <a:lnSpc>
                <a:spcPct val="100000"/>
              </a:lnSpc>
              <a:spcBef>
                <a:spcPts val="5"/>
              </a:spcBef>
              <a:buSzPct val="95000"/>
              <a:buFont typeface="Calibri"/>
              <a:buChar char="•"/>
              <a:tabLst>
                <a:tab pos="139065" algn="l"/>
              </a:tabLst>
            </a:pPr>
            <a:r>
              <a:rPr dirty="0" sz="2000" b="1">
                <a:latin typeface="Calibri"/>
                <a:cs typeface="Calibri"/>
              </a:rPr>
              <a:t>Backend</a:t>
            </a:r>
            <a:r>
              <a:rPr dirty="0" sz="2000" spc="-6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Technologies</a:t>
            </a:r>
            <a:r>
              <a:rPr dirty="0" sz="2000">
                <a:latin typeface="Calibri"/>
                <a:cs typeface="Calibri"/>
              </a:rPr>
              <a:t>: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Node.js</a:t>
            </a:r>
            <a:r>
              <a:rPr dirty="0" sz="2000" spc="-7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with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Express</a:t>
            </a:r>
            <a:r>
              <a:rPr dirty="0" sz="2000" spc="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/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Java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Spring</a:t>
            </a:r>
            <a:r>
              <a:rPr dirty="0" sz="2000" spc="-80">
                <a:latin typeface="Calibri"/>
                <a:cs typeface="Calibri"/>
              </a:rPr>
              <a:t> </a:t>
            </a:r>
            <a:r>
              <a:rPr dirty="0" sz="2000" spc="-20">
                <a:latin typeface="Calibri"/>
                <a:cs typeface="Calibri"/>
              </a:rPr>
              <a:t>Boot</a:t>
            </a:r>
            <a:endParaRPr sz="2000">
              <a:latin typeface="Calibri"/>
              <a:cs typeface="Calibri"/>
            </a:endParaRPr>
          </a:p>
          <a:p>
            <a:pPr marL="139065" indent="-133350">
              <a:lnSpc>
                <a:spcPct val="100000"/>
              </a:lnSpc>
              <a:spcBef>
                <a:spcPts val="5"/>
              </a:spcBef>
              <a:buSzPct val="95000"/>
              <a:buFont typeface="Calibri"/>
              <a:buChar char="•"/>
              <a:tabLst>
                <a:tab pos="139065" algn="l"/>
              </a:tabLst>
            </a:pPr>
            <a:r>
              <a:rPr dirty="0" sz="2000" b="1">
                <a:latin typeface="Calibri"/>
                <a:cs typeface="Calibri"/>
              </a:rPr>
              <a:t>Database</a:t>
            </a:r>
            <a:r>
              <a:rPr dirty="0" sz="2000">
                <a:latin typeface="Calibri"/>
                <a:cs typeface="Calibri"/>
              </a:rPr>
              <a:t>: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MySQL</a:t>
            </a:r>
            <a:r>
              <a:rPr dirty="0" sz="2000" spc="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/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PostgreSQL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/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MongoDB</a:t>
            </a:r>
            <a:endParaRPr sz="2000">
              <a:latin typeface="Calibri"/>
              <a:cs typeface="Calibri"/>
            </a:endParaRPr>
          </a:p>
          <a:p>
            <a:pPr marL="139065" indent="-133350">
              <a:lnSpc>
                <a:spcPct val="100000"/>
              </a:lnSpc>
              <a:buSzPct val="95000"/>
              <a:buFont typeface="Calibri"/>
              <a:buChar char="•"/>
              <a:tabLst>
                <a:tab pos="139065" algn="l"/>
              </a:tabLst>
            </a:pPr>
            <a:r>
              <a:rPr dirty="0" sz="2000" b="1">
                <a:latin typeface="Calibri"/>
                <a:cs typeface="Calibri"/>
              </a:rPr>
              <a:t>Web</a:t>
            </a:r>
            <a:r>
              <a:rPr dirty="0" sz="2000" spc="-4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Browser</a:t>
            </a:r>
            <a:r>
              <a:rPr dirty="0" sz="2000">
                <a:latin typeface="Calibri"/>
                <a:cs typeface="Calibri"/>
              </a:rPr>
              <a:t>: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Google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Chrome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/</a:t>
            </a:r>
            <a:r>
              <a:rPr dirty="0" sz="2000" spc="2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Firefox</a:t>
            </a:r>
            <a:endParaRPr sz="2000">
              <a:latin typeface="Calibri"/>
              <a:cs typeface="Calibri"/>
            </a:endParaRPr>
          </a:p>
          <a:p>
            <a:pPr marL="139065" indent="-133350">
              <a:lnSpc>
                <a:spcPct val="100000"/>
              </a:lnSpc>
              <a:spcBef>
                <a:spcPts val="5"/>
              </a:spcBef>
              <a:buSzPct val="95000"/>
              <a:buFont typeface="Calibri"/>
              <a:buChar char="•"/>
              <a:tabLst>
                <a:tab pos="139065" algn="l"/>
              </a:tabLst>
            </a:pPr>
            <a:r>
              <a:rPr dirty="0" sz="2000" b="1">
                <a:latin typeface="Calibri"/>
                <a:cs typeface="Calibri"/>
              </a:rPr>
              <a:t>Tools</a:t>
            </a:r>
            <a:r>
              <a:rPr dirty="0" sz="2000">
                <a:latin typeface="Calibri"/>
                <a:cs typeface="Calibri"/>
              </a:rPr>
              <a:t>: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VS</a:t>
            </a:r>
            <a:r>
              <a:rPr dirty="0" sz="2000" spc="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Code,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Git,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GitHub</a:t>
            </a:r>
            <a:endParaRPr sz="2000">
              <a:latin typeface="Calibri"/>
              <a:cs typeface="Calibri"/>
            </a:endParaRPr>
          </a:p>
          <a:p>
            <a:pPr marL="139065" indent="-133350">
              <a:lnSpc>
                <a:spcPct val="100000"/>
              </a:lnSpc>
              <a:spcBef>
                <a:spcPts val="5"/>
              </a:spcBef>
              <a:buSzPct val="95000"/>
              <a:buFont typeface="Calibri"/>
              <a:buChar char="•"/>
              <a:tabLst>
                <a:tab pos="139065" algn="l"/>
              </a:tabLst>
            </a:pPr>
            <a:r>
              <a:rPr dirty="0" sz="2000" b="1">
                <a:latin typeface="Calibri"/>
                <a:cs typeface="Calibri"/>
              </a:rPr>
              <a:t>APIs</a:t>
            </a:r>
            <a:r>
              <a:rPr dirty="0" sz="2000">
                <a:latin typeface="Calibri"/>
                <a:cs typeface="Calibri"/>
              </a:rPr>
              <a:t>: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Maps</a:t>
            </a:r>
            <a:r>
              <a:rPr dirty="0" sz="2000" spc="-6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API,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Notification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Services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ts val="2840"/>
              </a:lnSpc>
              <a:spcBef>
                <a:spcPts val="125"/>
              </a:spcBef>
            </a:pPr>
            <a:r>
              <a:rPr dirty="0" u="sng" sz="2400" spc="-10" b="1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Hardware</a:t>
            </a:r>
            <a:r>
              <a:rPr dirty="0" u="sng" sz="2400" spc="-125" b="1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 </a:t>
            </a:r>
            <a:r>
              <a:rPr dirty="0" u="sng" sz="2400" spc="-10" b="1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Requirements:</a:t>
            </a:r>
            <a:endParaRPr sz="2400">
              <a:latin typeface="Cambria"/>
              <a:cs typeface="Cambria"/>
            </a:endParaRPr>
          </a:p>
          <a:p>
            <a:pPr marL="139065" indent="-133350">
              <a:lnSpc>
                <a:spcPts val="2360"/>
              </a:lnSpc>
              <a:buSzPct val="95000"/>
              <a:buFont typeface="Calibri"/>
              <a:buChar char="•"/>
              <a:tabLst>
                <a:tab pos="139065" algn="l"/>
              </a:tabLst>
            </a:pPr>
            <a:r>
              <a:rPr dirty="0" sz="2000" b="1">
                <a:latin typeface="Calibri"/>
                <a:cs typeface="Calibri"/>
              </a:rPr>
              <a:t>Processor:</a:t>
            </a:r>
            <a:r>
              <a:rPr dirty="0" sz="2000" spc="-50" b="1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Intel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i3 or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 spc="-20">
                <a:latin typeface="Calibri"/>
                <a:cs typeface="Calibri"/>
              </a:rPr>
              <a:t>above</a:t>
            </a:r>
            <a:endParaRPr sz="2000">
              <a:latin typeface="Calibri"/>
              <a:cs typeface="Calibri"/>
            </a:endParaRPr>
          </a:p>
          <a:p>
            <a:pPr marL="139065" indent="-133350">
              <a:lnSpc>
                <a:spcPct val="100000"/>
              </a:lnSpc>
              <a:spcBef>
                <a:spcPts val="5"/>
              </a:spcBef>
              <a:buSzPct val="95000"/>
              <a:buFont typeface="Calibri"/>
              <a:buChar char="•"/>
              <a:tabLst>
                <a:tab pos="139065" algn="l"/>
              </a:tabLst>
            </a:pPr>
            <a:r>
              <a:rPr dirty="0" sz="2000" b="1">
                <a:latin typeface="Calibri"/>
                <a:cs typeface="Calibri"/>
              </a:rPr>
              <a:t>RAM:</a:t>
            </a:r>
            <a:r>
              <a:rPr dirty="0" sz="2000" spc="-30" b="1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Minimum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8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 spc="-25">
                <a:latin typeface="Calibri"/>
                <a:cs typeface="Calibri"/>
              </a:rPr>
              <a:t>GB</a:t>
            </a:r>
            <a:endParaRPr sz="2000">
              <a:latin typeface="Calibri"/>
              <a:cs typeface="Calibri"/>
            </a:endParaRPr>
          </a:p>
          <a:p>
            <a:pPr marL="139065" indent="-133350">
              <a:lnSpc>
                <a:spcPct val="100000"/>
              </a:lnSpc>
              <a:buSzPct val="95000"/>
              <a:buFont typeface="Calibri"/>
              <a:buChar char="•"/>
              <a:tabLst>
                <a:tab pos="139065" algn="l"/>
              </a:tabLst>
            </a:pPr>
            <a:r>
              <a:rPr dirty="0" sz="2000" b="1">
                <a:latin typeface="Calibri"/>
                <a:cs typeface="Calibri"/>
              </a:rPr>
              <a:t>Storage</a:t>
            </a:r>
            <a:r>
              <a:rPr dirty="0" sz="2000">
                <a:latin typeface="Calibri"/>
                <a:cs typeface="Calibri"/>
              </a:rPr>
              <a:t>: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256</a:t>
            </a:r>
            <a:r>
              <a:rPr dirty="0" sz="2000" spc="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GB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SSD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or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higher</a:t>
            </a:r>
            <a:endParaRPr sz="2000">
              <a:latin typeface="Calibri"/>
              <a:cs typeface="Calibri"/>
            </a:endParaRPr>
          </a:p>
          <a:p>
            <a:pPr marL="139065" indent="-133350">
              <a:lnSpc>
                <a:spcPct val="100000"/>
              </a:lnSpc>
              <a:spcBef>
                <a:spcPts val="5"/>
              </a:spcBef>
              <a:buSzPct val="95000"/>
              <a:buFont typeface="Calibri"/>
              <a:buChar char="•"/>
              <a:tabLst>
                <a:tab pos="139065" algn="l"/>
              </a:tabLst>
            </a:pPr>
            <a:r>
              <a:rPr dirty="0" sz="2000" b="1">
                <a:latin typeface="Calibri"/>
                <a:cs typeface="Calibri"/>
              </a:rPr>
              <a:t>Server</a:t>
            </a:r>
            <a:r>
              <a:rPr dirty="0" sz="2000" spc="-6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(Cloud):</a:t>
            </a:r>
            <a:r>
              <a:rPr dirty="0" sz="2000" spc="-70" b="1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AWS</a:t>
            </a:r>
            <a:r>
              <a:rPr dirty="0" sz="2000" spc="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/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Firebase</a:t>
            </a:r>
            <a:r>
              <a:rPr dirty="0" sz="2000" spc="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/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Azure</a:t>
            </a:r>
            <a:endParaRPr sz="2000">
              <a:latin typeface="Calibri"/>
              <a:cs typeface="Calibri"/>
            </a:endParaRPr>
          </a:p>
          <a:p>
            <a:pPr marL="139065" indent="-133350">
              <a:lnSpc>
                <a:spcPct val="100000"/>
              </a:lnSpc>
              <a:spcBef>
                <a:spcPts val="5"/>
              </a:spcBef>
              <a:buSzPct val="95000"/>
              <a:buFont typeface="Calibri"/>
              <a:buChar char="•"/>
              <a:tabLst>
                <a:tab pos="139065" algn="l"/>
              </a:tabLst>
            </a:pPr>
            <a:r>
              <a:rPr dirty="0" sz="2000" b="1">
                <a:latin typeface="Calibri"/>
                <a:cs typeface="Calibri"/>
              </a:rPr>
              <a:t>User</a:t>
            </a:r>
            <a:r>
              <a:rPr dirty="0" sz="2000" spc="-6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Devices:</a:t>
            </a:r>
            <a:r>
              <a:rPr dirty="0" sz="2000" spc="-55" b="1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Smartphone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or</a:t>
            </a:r>
            <a:r>
              <a:rPr dirty="0" sz="2000" spc="1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PC</a:t>
            </a:r>
            <a:r>
              <a:rPr dirty="0" sz="2000" spc="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with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Internet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29209">
              <a:lnSpc>
                <a:spcPct val="100000"/>
              </a:lnSpc>
              <a:spcBef>
                <a:spcPts val="125"/>
              </a:spcBef>
            </a:pPr>
            <a:r>
              <a:rPr dirty="0"/>
              <a:t>Timeline</a:t>
            </a:r>
            <a:r>
              <a:rPr dirty="0" spc="15"/>
              <a:t> </a:t>
            </a:r>
            <a:r>
              <a:rPr dirty="0"/>
              <a:t>of</a:t>
            </a:r>
            <a:r>
              <a:rPr dirty="0" spc="-60"/>
              <a:t> </a:t>
            </a:r>
            <a:r>
              <a:rPr dirty="0"/>
              <a:t>the</a:t>
            </a:r>
            <a:r>
              <a:rPr dirty="0" spc="-5"/>
              <a:t> </a:t>
            </a:r>
            <a:r>
              <a:rPr dirty="0"/>
              <a:t>Project</a:t>
            </a:r>
            <a:r>
              <a:rPr dirty="0" spc="-15"/>
              <a:t> </a:t>
            </a:r>
            <a:r>
              <a:rPr dirty="0"/>
              <a:t>(Gantt</a:t>
            </a:r>
            <a:r>
              <a:rPr dirty="0" spc="-45"/>
              <a:t> </a:t>
            </a:r>
            <a:r>
              <a:rPr dirty="0" spc="-10"/>
              <a:t>Chart)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66800" y="1447800"/>
            <a:ext cx="8029575" cy="39624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29209">
              <a:lnSpc>
                <a:spcPct val="100000"/>
              </a:lnSpc>
              <a:spcBef>
                <a:spcPts val="125"/>
              </a:spcBef>
            </a:pPr>
            <a:r>
              <a:rPr dirty="0"/>
              <a:t>References</a:t>
            </a:r>
            <a:r>
              <a:rPr dirty="0" spc="-25"/>
              <a:t> </a:t>
            </a:r>
            <a:r>
              <a:rPr dirty="0"/>
              <a:t>(IEEE</a:t>
            </a:r>
            <a:r>
              <a:rPr dirty="0" spc="30"/>
              <a:t> </a:t>
            </a:r>
            <a:r>
              <a:rPr dirty="0"/>
              <a:t>Paper</a:t>
            </a:r>
            <a:r>
              <a:rPr dirty="0" spc="-90"/>
              <a:t> </a:t>
            </a:r>
            <a:r>
              <a:rPr dirty="0" spc="-10"/>
              <a:t>format)</a:t>
            </a:r>
          </a:p>
        </p:txBody>
      </p:sp>
      <p:sp>
        <p:nvSpPr>
          <p:cNvPr id="3" name="object 3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 marR="382905">
              <a:lnSpc>
                <a:spcPct val="100000"/>
              </a:lnSpc>
              <a:spcBef>
                <a:spcPts val="125"/>
              </a:spcBef>
            </a:pPr>
            <a:r>
              <a:rPr dirty="0"/>
              <a:t>[</a:t>
            </a:r>
            <a:r>
              <a:rPr dirty="0" spc="-20"/>
              <a:t> </a:t>
            </a:r>
            <a:r>
              <a:rPr dirty="0"/>
              <a:t>1</a:t>
            </a:r>
            <a:r>
              <a:rPr dirty="0" spc="-45"/>
              <a:t> </a:t>
            </a:r>
            <a:r>
              <a:rPr dirty="0"/>
              <a:t>]</a:t>
            </a:r>
            <a:r>
              <a:rPr dirty="0" spc="-15"/>
              <a:t> </a:t>
            </a:r>
            <a:r>
              <a:rPr dirty="0"/>
              <a:t>Brabham,</a:t>
            </a:r>
            <a:r>
              <a:rPr dirty="0" spc="-85"/>
              <a:t> </a:t>
            </a:r>
            <a:r>
              <a:rPr dirty="0"/>
              <a:t>D.</a:t>
            </a:r>
            <a:r>
              <a:rPr dirty="0" spc="-85"/>
              <a:t> </a:t>
            </a:r>
            <a:r>
              <a:rPr dirty="0"/>
              <a:t>C.,</a:t>
            </a:r>
            <a:r>
              <a:rPr dirty="0" spc="-15"/>
              <a:t> </a:t>
            </a:r>
            <a:r>
              <a:rPr dirty="0" i="1">
                <a:latin typeface="Arial"/>
                <a:cs typeface="Arial"/>
              </a:rPr>
              <a:t>Crowdsourcing</a:t>
            </a:r>
            <a:r>
              <a:rPr dirty="0" spc="-50" i="1">
                <a:latin typeface="Arial"/>
                <a:cs typeface="Arial"/>
              </a:rPr>
              <a:t> </a:t>
            </a:r>
            <a:r>
              <a:rPr dirty="0" i="1">
                <a:latin typeface="Arial"/>
                <a:cs typeface="Arial"/>
              </a:rPr>
              <a:t>in</a:t>
            </a:r>
            <a:r>
              <a:rPr dirty="0" spc="25" i="1">
                <a:latin typeface="Arial"/>
                <a:cs typeface="Arial"/>
              </a:rPr>
              <a:t> </a:t>
            </a:r>
            <a:r>
              <a:rPr dirty="0" i="1">
                <a:latin typeface="Arial"/>
                <a:cs typeface="Arial"/>
              </a:rPr>
              <a:t>the</a:t>
            </a:r>
            <a:r>
              <a:rPr dirty="0" spc="-50" i="1">
                <a:latin typeface="Arial"/>
                <a:cs typeface="Arial"/>
              </a:rPr>
              <a:t> </a:t>
            </a:r>
            <a:r>
              <a:rPr dirty="0" i="1">
                <a:latin typeface="Arial"/>
                <a:cs typeface="Arial"/>
              </a:rPr>
              <a:t>Public</a:t>
            </a:r>
            <a:r>
              <a:rPr dirty="0" spc="-15" i="1">
                <a:latin typeface="Arial"/>
                <a:cs typeface="Arial"/>
              </a:rPr>
              <a:t> </a:t>
            </a:r>
            <a:r>
              <a:rPr dirty="0" i="1">
                <a:latin typeface="Arial"/>
                <a:cs typeface="Arial"/>
              </a:rPr>
              <a:t>Sector</a:t>
            </a:r>
            <a:r>
              <a:rPr dirty="0"/>
              <a:t>,</a:t>
            </a:r>
            <a:r>
              <a:rPr dirty="0" spc="-15"/>
              <a:t> </a:t>
            </a:r>
            <a:r>
              <a:rPr dirty="0"/>
              <a:t>Georgetown</a:t>
            </a:r>
            <a:r>
              <a:rPr dirty="0" spc="-50"/>
              <a:t> </a:t>
            </a:r>
            <a:r>
              <a:rPr dirty="0" spc="-10"/>
              <a:t>University </a:t>
            </a:r>
            <a:r>
              <a:rPr dirty="0"/>
              <a:t>Press,</a:t>
            </a:r>
            <a:r>
              <a:rPr dirty="0" spc="-25"/>
              <a:t> </a:t>
            </a:r>
            <a:r>
              <a:rPr dirty="0" spc="-10"/>
              <a:t>2015.</a:t>
            </a:r>
          </a:p>
          <a:p>
            <a:pPr>
              <a:lnSpc>
                <a:spcPct val="100000"/>
              </a:lnSpc>
              <a:spcBef>
                <a:spcPts val="110"/>
              </a:spcBef>
            </a:pPr>
          </a:p>
          <a:p>
            <a:pPr marL="12700" marR="2319655">
              <a:lnSpc>
                <a:spcPct val="100000"/>
              </a:lnSpc>
            </a:pPr>
            <a:r>
              <a:rPr dirty="0"/>
              <a:t>[</a:t>
            </a:r>
            <a:r>
              <a:rPr dirty="0" spc="-30"/>
              <a:t> </a:t>
            </a:r>
            <a:r>
              <a:rPr dirty="0"/>
              <a:t>2</a:t>
            </a:r>
            <a:r>
              <a:rPr dirty="0" spc="-60"/>
              <a:t> </a:t>
            </a:r>
            <a:r>
              <a:rPr dirty="0"/>
              <a:t>]</a:t>
            </a:r>
            <a:r>
              <a:rPr dirty="0" spc="-30"/>
              <a:t> </a:t>
            </a:r>
            <a:r>
              <a:rPr dirty="0"/>
              <a:t>Open311</a:t>
            </a:r>
            <a:r>
              <a:rPr dirty="0" spc="10"/>
              <a:t> </a:t>
            </a:r>
            <a:r>
              <a:rPr dirty="0"/>
              <a:t>Consortium,</a:t>
            </a:r>
            <a:r>
              <a:rPr dirty="0" spc="-45"/>
              <a:t> </a:t>
            </a:r>
            <a:r>
              <a:rPr dirty="0" i="1">
                <a:latin typeface="Arial"/>
                <a:cs typeface="Arial"/>
              </a:rPr>
              <a:t>Open311</a:t>
            </a:r>
            <a:r>
              <a:rPr dirty="0" spc="-65" i="1">
                <a:latin typeface="Arial"/>
                <a:cs typeface="Arial"/>
              </a:rPr>
              <a:t> </a:t>
            </a:r>
            <a:r>
              <a:rPr dirty="0" i="1">
                <a:latin typeface="Arial"/>
                <a:cs typeface="Arial"/>
              </a:rPr>
              <a:t>Service</a:t>
            </a:r>
            <a:r>
              <a:rPr dirty="0" spc="-60" i="1">
                <a:latin typeface="Arial"/>
                <a:cs typeface="Arial"/>
              </a:rPr>
              <a:t> </a:t>
            </a:r>
            <a:r>
              <a:rPr dirty="0" i="1">
                <a:latin typeface="Arial"/>
                <a:cs typeface="Arial"/>
              </a:rPr>
              <a:t>Request</a:t>
            </a:r>
            <a:r>
              <a:rPr dirty="0" spc="-30" i="1">
                <a:latin typeface="Arial"/>
                <a:cs typeface="Arial"/>
              </a:rPr>
              <a:t> </a:t>
            </a:r>
            <a:r>
              <a:rPr dirty="0" spc="-10" i="1">
                <a:latin typeface="Arial"/>
                <a:cs typeface="Arial"/>
              </a:rPr>
              <a:t>Platform</a:t>
            </a:r>
            <a:r>
              <a:rPr dirty="0" spc="-10"/>
              <a:t>, </a:t>
            </a:r>
            <a:r>
              <a:rPr dirty="0" u="sng" spc="-1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hlinkClick r:id="rId2"/>
              </a:rPr>
              <a:t>https://www.open311.org</a:t>
            </a:r>
          </a:p>
          <a:p>
            <a:pPr>
              <a:lnSpc>
                <a:spcPct val="100000"/>
              </a:lnSpc>
              <a:spcBef>
                <a:spcPts val="110"/>
              </a:spcBef>
            </a:pPr>
          </a:p>
          <a:p>
            <a:pPr marL="12700" marR="5080">
              <a:lnSpc>
                <a:spcPct val="100000"/>
              </a:lnSpc>
            </a:pPr>
            <a:r>
              <a:rPr dirty="0"/>
              <a:t>[</a:t>
            </a:r>
            <a:r>
              <a:rPr dirty="0" spc="-15"/>
              <a:t> </a:t>
            </a:r>
            <a:r>
              <a:rPr dirty="0"/>
              <a:t>3</a:t>
            </a:r>
            <a:r>
              <a:rPr dirty="0" spc="-50"/>
              <a:t> </a:t>
            </a:r>
            <a:r>
              <a:rPr dirty="0"/>
              <a:t>]</a:t>
            </a:r>
            <a:r>
              <a:rPr dirty="0" spc="-10"/>
              <a:t> </a:t>
            </a:r>
            <a:r>
              <a:rPr dirty="0"/>
              <a:t>Nam,</a:t>
            </a:r>
            <a:r>
              <a:rPr dirty="0" spc="-15"/>
              <a:t> </a:t>
            </a:r>
            <a:r>
              <a:rPr dirty="0"/>
              <a:t>T.,</a:t>
            </a:r>
            <a:r>
              <a:rPr dirty="0" spc="-15"/>
              <a:t> </a:t>
            </a:r>
            <a:r>
              <a:rPr dirty="0"/>
              <a:t>&amp;</a:t>
            </a:r>
            <a:r>
              <a:rPr dirty="0" spc="-45"/>
              <a:t> </a:t>
            </a:r>
            <a:r>
              <a:rPr dirty="0"/>
              <a:t>Pardo,</a:t>
            </a:r>
            <a:r>
              <a:rPr dirty="0" spc="-15"/>
              <a:t> </a:t>
            </a:r>
            <a:r>
              <a:rPr dirty="0"/>
              <a:t>T.</a:t>
            </a:r>
            <a:r>
              <a:rPr dirty="0" spc="-10"/>
              <a:t> </a:t>
            </a:r>
            <a:r>
              <a:rPr dirty="0"/>
              <a:t>A.,</a:t>
            </a:r>
            <a:r>
              <a:rPr dirty="0" spc="-15"/>
              <a:t> </a:t>
            </a:r>
            <a:r>
              <a:rPr dirty="0"/>
              <a:t>“Smart</a:t>
            </a:r>
            <a:r>
              <a:rPr dirty="0" spc="-15"/>
              <a:t> </a:t>
            </a:r>
            <a:r>
              <a:rPr dirty="0"/>
              <a:t>City</a:t>
            </a:r>
            <a:r>
              <a:rPr dirty="0" spc="-80"/>
              <a:t> </a:t>
            </a:r>
            <a:r>
              <a:rPr dirty="0"/>
              <a:t>as</a:t>
            </a:r>
            <a:r>
              <a:rPr dirty="0" spc="-10"/>
              <a:t> </a:t>
            </a:r>
            <a:r>
              <a:rPr dirty="0"/>
              <a:t>Urban</a:t>
            </a:r>
            <a:r>
              <a:rPr dirty="0" spc="-55"/>
              <a:t> </a:t>
            </a:r>
            <a:r>
              <a:rPr dirty="0"/>
              <a:t>Innovation:</a:t>
            </a:r>
            <a:r>
              <a:rPr dirty="0" spc="-85"/>
              <a:t> </a:t>
            </a:r>
            <a:r>
              <a:rPr dirty="0"/>
              <a:t>Focusing</a:t>
            </a:r>
            <a:r>
              <a:rPr dirty="0" spc="-50"/>
              <a:t> </a:t>
            </a:r>
            <a:r>
              <a:rPr dirty="0" spc="-25"/>
              <a:t>on </a:t>
            </a:r>
            <a:r>
              <a:rPr dirty="0"/>
              <a:t>Management,</a:t>
            </a:r>
            <a:r>
              <a:rPr dirty="0" spc="-85"/>
              <a:t> </a:t>
            </a:r>
            <a:r>
              <a:rPr dirty="0"/>
              <a:t>Policy,</a:t>
            </a:r>
            <a:r>
              <a:rPr dirty="0" spc="-85"/>
              <a:t> </a:t>
            </a:r>
            <a:r>
              <a:rPr dirty="0"/>
              <a:t>and</a:t>
            </a:r>
            <a:r>
              <a:rPr dirty="0" spc="-50"/>
              <a:t> </a:t>
            </a:r>
            <a:r>
              <a:rPr dirty="0"/>
              <a:t>Context,” </a:t>
            </a:r>
            <a:r>
              <a:rPr dirty="0" i="1">
                <a:latin typeface="Arial"/>
                <a:cs typeface="Arial"/>
              </a:rPr>
              <a:t>Proceedings</a:t>
            </a:r>
            <a:r>
              <a:rPr dirty="0" spc="-20" i="1">
                <a:latin typeface="Arial"/>
                <a:cs typeface="Arial"/>
              </a:rPr>
              <a:t> </a:t>
            </a:r>
            <a:r>
              <a:rPr dirty="0" i="1">
                <a:latin typeface="Arial"/>
                <a:cs typeface="Arial"/>
              </a:rPr>
              <a:t>of</a:t>
            </a:r>
            <a:r>
              <a:rPr dirty="0" spc="-90" i="1">
                <a:latin typeface="Arial"/>
                <a:cs typeface="Arial"/>
              </a:rPr>
              <a:t> </a:t>
            </a:r>
            <a:r>
              <a:rPr dirty="0" i="1">
                <a:latin typeface="Arial"/>
                <a:cs typeface="Arial"/>
              </a:rPr>
              <a:t>the</a:t>
            </a:r>
            <a:r>
              <a:rPr dirty="0" spc="25" i="1">
                <a:latin typeface="Arial"/>
                <a:cs typeface="Arial"/>
              </a:rPr>
              <a:t> </a:t>
            </a:r>
            <a:r>
              <a:rPr dirty="0" i="1">
                <a:latin typeface="Arial"/>
                <a:cs typeface="Arial"/>
              </a:rPr>
              <a:t>5th</a:t>
            </a:r>
            <a:r>
              <a:rPr dirty="0" spc="-50" i="1">
                <a:latin typeface="Arial"/>
                <a:cs typeface="Arial"/>
              </a:rPr>
              <a:t> </a:t>
            </a:r>
            <a:r>
              <a:rPr dirty="0" i="1">
                <a:latin typeface="Arial"/>
                <a:cs typeface="Arial"/>
              </a:rPr>
              <a:t>International</a:t>
            </a:r>
            <a:r>
              <a:rPr dirty="0" spc="-50" i="1">
                <a:latin typeface="Arial"/>
                <a:cs typeface="Arial"/>
              </a:rPr>
              <a:t> </a:t>
            </a:r>
            <a:r>
              <a:rPr dirty="0" spc="-10" i="1">
                <a:latin typeface="Arial"/>
                <a:cs typeface="Arial"/>
              </a:rPr>
              <a:t>Conference </a:t>
            </a:r>
            <a:r>
              <a:rPr dirty="0" i="1">
                <a:latin typeface="Arial"/>
                <a:cs typeface="Arial"/>
              </a:rPr>
              <a:t>on</a:t>
            </a:r>
            <a:r>
              <a:rPr dirty="0" spc="-35" i="1">
                <a:latin typeface="Arial"/>
                <a:cs typeface="Arial"/>
              </a:rPr>
              <a:t> </a:t>
            </a:r>
            <a:r>
              <a:rPr dirty="0" i="1">
                <a:latin typeface="Arial"/>
                <a:cs typeface="Arial"/>
              </a:rPr>
              <a:t>Theory</a:t>
            </a:r>
            <a:r>
              <a:rPr dirty="0" spc="-70" i="1">
                <a:latin typeface="Arial"/>
                <a:cs typeface="Arial"/>
              </a:rPr>
              <a:t> </a:t>
            </a:r>
            <a:r>
              <a:rPr dirty="0" i="1">
                <a:latin typeface="Arial"/>
                <a:cs typeface="Arial"/>
              </a:rPr>
              <a:t>and</a:t>
            </a:r>
            <a:r>
              <a:rPr dirty="0" spc="-40" i="1">
                <a:latin typeface="Arial"/>
                <a:cs typeface="Arial"/>
              </a:rPr>
              <a:t> </a:t>
            </a:r>
            <a:r>
              <a:rPr dirty="0" i="1">
                <a:latin typeface="Arial"/>
                <a:cs typeface="Arial"/>
              </a:rPr>
              <a:t>Practice</a:t>
            </a:r>
            <a:r>
              <a:rPr dirty="0" spc="-30" i="1">
                <a:latin typeface="Arial"/>
                <a:cs typeface="Arial"/>
              </a:rPr>
              <a:t> </a:t>
            </a:r>
            <a:r>
              <a:rPr dirty="0" i="1">
                <a:latin typeface="Arial"/>
                <a:cs typeface="Arial"/>
              </a:rPr>
              <a:t>of</a:t>
            </a:r>
            <a:r>
              <a:rPr dirty="0" spc="-75" i="1">
                <a:latin typeface="Arial"/>
                <a:cs typeface="Arial"/>
              </a:rPr>
              <a:t> </a:t>
            </a:r>
            <a:r>
              <a:rPr dirty="0" i="1">
                <a:latin typeface="Arial"/>
                <a:cs typeface="Arial"/>
              </a:rPr>
              <a:t>Electronic Governance</a:t>
            </a:r>
            <a:r>
              <a:rPr dirty="0"/>
              <a:t>,</a:t>
            </a:r>
            <a:r>
              <a:rPr dirty="0" spc="5"/>
              <a:t> </a:t>
            </a:r>
            <a:r>
              <a:rPr dirty="0" spc="-10"/>
              <a:t>2011.</a:t>
            </a:r>
          </a:p>
          <a:p>
            <a:pPr>
              <a:lnSpc>
                <a:spcPct val="100000"/>
              </a:lnSpc>
              <a:spcBef>
                <a:spcPts val="114"/>
              </a:spcBef>
            </a:pPr>
          </a:p>
          <a:p>
            <a:pPr marL="12700">
              <a:lnSpc>
                <a:spcPct val="100000"/>
              </a:lnSpc>
            </a:pPr>
            <a:r>
              <a:rPr dirty="0"/>
              <a:t>[</a:t>
            </a:r>
            <a:r>
              <a:rPr dirty="0" spc="-10"/>
              <a:t> </a:t>
            </a:r>
            <a:r>
              <a:rPr dirty="0"/>
              <a:t>4</a:t>
            </a:r>
            <a:r>
              <a:rPr dirty="0" spc="-45"/>
              <a:t> </a:t>
            </a:r>
            <a:r>
              <a:rPr dirty="0"/>
              <a:t>]</a:t>
            </a:r>
            <a:r>
              <a:rPr dirty="0" spc="-10"/>
              <a:t> </a:t>
            </a:r>
            <a:r>
              <a:rPr dirty="0"/>
              <a:t>Batty,</a:t>
            </a:r>
            <a:r>
              <a:rPr dirty="0" spc="-5"/>
              <a:t> </a:t>
            </a:r>
            <a:r>
              <a:rPr dirty="0"/>
              <a:t>M.</a:t>
            </a:r>
            <a:r>
              <a:rPr dirty="0" spc="-10"/>
              <a:t> </a:t>
            </a:r>
            <a:r>
              <a:rPr dirty="0"/>
              <a:t>et</a:t>
            </a:r>
            <a:r>
              <a:rPr dirty="0" spc="-85"/>
              <a:t> </a:t>
            </a:r>
            <a:r>
              <a:rPr dirty="0"/>
              <a:t>al.,</a:t>
            </a:r>
            <a:r>
              <a:rPr dirty="0" spc="-5"/>
              <a:t> </a:t>
            </a:r>
            <a:r>
              <a:rPr dirty="0"/>
              <a:t>“Smart</a:t>
            </a:r>
            <a:r>
              <a:rPr dirty="0" spc="-85"/>
              <a:t> </a:t>
            </a:r>
            <a:r>
              <a:rPr dirty="0"/>
              <a:t>Cities</a:t>
            </a:r>
            <a:r>
              <a:rPr dirty="0" spc="-80"/>
              <a:t> </a:t>
            </a:r>
            <a:r>
              <a:rPr dirty="0"/>
              <a:t>of</a:t>
            </a:r>
            <a:r>
              <a:rPr dirty="0" spc="-10"/>
              <a:t> </a:t>
            </a:r>
            <a:r>
              <a:rPr dirty="0"/>
              <a:t>the</a:t>
            </a:r>
            <a:r>
              <a:rPr dirty="0" spc="-45"/>
              <a:t> </a:t>
            </a:r>
            <a:r>
              <a:rPr dirty="0"/>
              <a:t>Future,”</a:t>
            </a:r>
            <a:r>
              <a:rPr dirty="0" spc="-25"/>
              <a:t> </a:t>
            </a:r>
            <a:r>
              <a:rPr dirty="0" i="1">
                <a:latin typeface="Arial"/>
                <a:cs typeface="Arial"/>
              </a:rPr>
              <a:t>European</a:t>
            </a:r>
            <a:r>
              <a:rPr dirty="0" spc="-45" i="1">
                <a:latin typeface="Arial"/>
                <a:cs typeface="Arial"/>
              </a:rPr>
              <a:t> </a:t>
            </a:r>
            <a:r>
              <a:rPr dirty="0" i="1">
                <a:latin typeface="Arial"/>
                <a:cs typeface="Arial"/>
              </a:rPr>
              <a:t>Physical</a:t>
            </a:r>
            <a:r>
              <a:rPr dirty="0" spc="-45" i="1">
                <a:latin typeface="Arial"/>
                <a:cs typeface="Arial"/>
              </a:rPr>
              <a:t> </a:t>
            </a:r>
            <a:r>
              <a:rPr dirty="0" i="1">
                <a:latin typeface="Arial"/>
                <a:cs typeface="Arial"/>
              </a:rPr>
              <a:t>Journal</a:t>
            </a:r>
            <a:r>
              <a:rPr dirty="0" spc="30" i="1">
                <a:latin typeface="Arial"/>
                <a:cs typeface="Arial"/>
              </a:rPr>
              <a:t> </a:t>
            </a:r>
            <a:r>
              <a:rPr dirty="0" spc="-10" i="1">
                <a:latin typeface="Arial"/>
                <a:cs typeface="Arial"/>
              </a:rPr>
              <a:t>Special</a:t>
            </a:r>
          </a:p>
          <a:p>
            <a:pPr marL="12700">
              <a:lnSpc>
                <a:spcPct val="100000"/>
              </a:lnSpc>
            </a:pPr>
            <a:r>
              <a:rPr dirty="0" i="1">
                <a:latin typeface="Arial"/>
                <a:cs typeface="Arial"/>
              </a:rPr>
              <a:t>Topics</a:t>
            </a:r>
            <a:r>
              <a:rPr dirty="0"/>
              <a:t>,</a:t>
            </a:r>
            <a:r>
              <a:rPr dirty="0" spc="-5"/>
              <a:t> </a:t>
            </a:r>
            <a:r>
              <a:rPr dirty="0"/>
              <a:t>Vol.</a:t>
            </a:r>
            <a:r>
              <a:rPr dirty="0" spc="-10"/>
              <a:t> </a:t>
            </a:r>
            <a:r>
              <a:rPr dirty="0"/>
              <a:t>214,</a:t>
            </a:r>
            <a:r>
              <a:rPr dirty="0" spc="-85"/>
              <a:t> </a:t>
            </a:r>
            <a:r>
              <a:rPr dirty="0"/>
              <a:t>No.</a:t>
            </a:r>
            <a:r>
              <a:rPr dirty="0" spc="-5"/>
              <a:t> </a:t>
            </a:r>
            <a:r>
              <a:rPr dirty="0"/>
              <a:t>1,</a:t>
            </a:r>
            <a:r>
              <a:rPr dirty="0" spc="-10"/>
              <a:t> 2012.</a:t>
            </a:r>
          </a:p>
          <a:p>
            <a:pPr>
              <a:lnSpc>
                <a:spcPct val="100000"/>
              </a:lnSpc>
              <a:spcBef>
                <a:spcPts val="110"/>
              </a:spcBef>
            </a:pPr>
          </a:p>
          <a:p>
            <a:pPr marL="12700">
              <a:lnSpc>
                <a:spcPct val="100000"/>
              </a:lnSpc>
            </a:pPr>
            <a:r>
              <a:rPr dirty="0"/>
              <a:t>[</a:t>
            </a:r>
            <a:r>
              <a:rPr dirty="0" spc="-30"/>
              <a:t> </a:t>
            </a:r>
            <a:r>
              <a:rPr dirty="0"/>
              <a:t>5</a:t>
            </a:r>
            <a:r>
              <a:rPr dirty="0" spc="-65"/>
              <a:t> </a:t>
            </a:r>
            <a:r>
              <a:rPr dirty="0"/>
              <a:t>]Government</a:t>
            </a:r>
            <a:r>
              <a:rPr dirty="0" spc="-30"/>
              <a:t> </a:t>
            </a:r>
            <a:r>
              <a:rPr dirty="0"/>
              <a:t>of</a:t>
            </a:r>
            <a:r>
              <a:rPr dirty="0" spc="-30"/>
              <a:t> </a:t>
            </a:r>
            <a:r>
              <a:rPr dirty="0"/>
              <a:t>India,</a:t>
            </a:r>
            <a:r>
              <a:rPr dirty="0" spc="-5"/>
              <a:t> </a:t>
            </a:r>
            <a:r>
              <a:rPr dirty="0" i="1">
                <a:latin typeface="Arial"/>
                <a:cs typeface="Arial"/>
              </a:rPr>
              <a:t>National</a:t>
            </a:r>
            <a:r>
              <a:rPr dirty="0" spc="-65" i="1">
                <a:latin typeface="Arial"/>
                <a:cs typeface="Arial"/>
              </a:rPr>
              <a:t> </a:t>
            </a:r>
            <a:r>
              <a:rPr dirty="0" i="1">
                <a:latin typeface="Arial"/>
                <a:cs typeface="Arial"/>
              </a:rPr>
              <a:t>e-Governance</a:t>
            </a:r>
            <a:r>
              <a:rPr dirty="0" spc="10" i="1">
                <a:latin typeface="Arial"/>
                <a:cs typeface="Arial"/>
              </a:rPr>
              <a:t> </a:t>
            </a:r>
            <a:r>
              <a:rPr dirty="0" i="1">
                <a:latin typeface="Arial"/>
                <a:cs typeface="Arial"/>
              </a:rPr>
              <a:t>Plan</a:t>
            </a:r>
            <a:r>
              <a:rPr dirty="0" spc="-65" i="1">
                <a:latin typeface="Arial"/>
                <a:cs typeface="Arial"/>
              </a:rPr>
              <a:t> </a:t>
            </a:r>
            <a:r>
              <a:rPr dirty="0" i="1">
                <a:latin typeface="Arial"/>
                <a:cs typeface="Arial"/>
              </a:rPr>
              <a:t>and</a:t>
            </a:r>
            <a:r>
              <a:rPr dirty="0" spc="-65" i="1">
                <a:latin typeface="Arial"/>
                <a:cs typeface="Arial"/>
              </a:rPr>
              <a:t> </a:t>
            </a:r>
            <a:r>
              <a:rPr dirty="0" i="1">
                <a:latin typeface="Arial"/>
                <a:cs typeface="Arial"/>
              </a:rPr>
              <a:t>Smart</a:t>
            </a:r>
            <a:r>
              <a:rPr dirty="0" spc="-30" i="1">
                <a:latin typeface="Arial"/>
                <a:cs typeface="Arial"/>
              </a:rPr>
              <a:t> </a:t>
            </a:r>
            <a:r>
              <a:rPr dirty="0" i="1">
                <a:latin typeface="Arial"/>
                <a:cs typeface="Arial"/>
              </a:rPr>
              <a:t>City</a:t>
            </a:r>
            <a:r>
              <a:rPr dirty="0" spc="-30" i="1">
                <a:latin typeface="Arial"/>
                <a:cs typeface="Arial"/>
              </a:rPr>
              <a:t> </a:t>
            </a:r>
            <a:r>
              <a:rPr dirty="0" spc="-10" i="1">
                <a:latin typeface="Arial"/>
                <a:cs typeface="Arial"/>
              </a:rPr>
              <a:t>Mission</a:t>
            </a:r>
            <a:r>
              <a:rPr dirty="0" spc="-10"/>
              <a:t>,</a:t>
            </a:r>
          </a:p>
          <a:p>
            <a:pPr marL="12700">
              <a:lnSpc>
                <a:spcPct val="100000"/>
              </a:lnSpc>
            </a:pPr>
            <a:r>
              <a:rPr dirty="0" u="sng" spc="-1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hlinkClick r:id="rId3"/>
              </a:rPr>
              <a:t>https://www.data.gov.in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Github</a:t>
            </a:r>
            <a:r>
              <a:rPr dirty="0" spc="15"/>
              <a:t> </a:t>
            </a:r>
            <a:r>
              <a:rPr dirty="0" spc="-20"/>
              <a:t>Link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1046797" y="1176337"/>
            <a:ext cx="6654165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sng" sz="2400" spc="-1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Verdana"/>
                <a:cs typeface="Verdana"/>
                <a:hlinkClick r:id="rId2"/>
              </a:rPr>
              <a:t>https://github.com/Msidhu07/CivicConnect</a:t>
            </a:r>
            <a:endParaRPr sz="24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86225" y="1438275"/>
            <a:ext cx="3886200" cy="393382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2026-01-11T04:14:45Z</dcterms:created>
  <dcterms:modified xsi:type="dcterms:W3CDTF">2026-01-11T04:14:45Z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2026-01-10T00:00:00Z</vt:filetime>
  </property>
  <property fmtid="{D5CDD505-2E9C-101B-9397-08002B2CF9AE}" pid="3" name="LastSaved">
    <vt:filetime>2026-01-11T00:00:00Z</vt:filetime>
  </property>
</Properties>
</file>